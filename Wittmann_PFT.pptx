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4" r:id="rId13"/>
    <p:sldId id="267" r:id="rId14"/>
    <p:sldId id="290" r:id="rId15"/>
    <p:sldId id="269" r:id="rId16"/>
    <p:sldId id="270" r:id="rId17"/>
    <p:sldId id="271" r:id="rId18"/>
    <p:sldId id="272" r:id="rId19"/>
    <p:sldId id="285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6" r:id="rId31"/>
    <p:sldId id="288" r:id="rId32"/>
    <p:sldId id="289" r:id="rId33"/>
    <p:sldId id="283" r:id="rId3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25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32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605213"/>
            <a:ext cx="167960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FORSCHUNGSERGEBNISSE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4224338"/>
            <a:ext cx="1530477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300" b="1" kern="0" spc="-158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Optimierung lokaler LLMs für multimodale Hateful Memes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90600" y="6338888"/>
            <a:ext cx="1679600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Leopold Wittmann </a:t>
            </a:r>
            <a:r>
              <a:rPr lang="en-US" sz="2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Hochschule München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30382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ÜBERBLICK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303826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Gliederung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90600" y="2400300"/>
            <a:ext cx="685800" cy="28575"/>
          </a:xfrm>
          <a:prstGeom prst="roundRect">
            <a:avLst>
              <a:gd name="adj" fmla="val 50000"/>
            </a:avLst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90600" y="4681538"/>
            <a:ext cx="65722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90600" y="4176712"/>
            <a:ext cx="533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14500" y="4119562"/>
            <a:ext cx="141490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Einleitung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705850" y="4681538"/>
            <a:ext cx="65722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8705850" y="4176712"/>
            <a:ext cx="533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29750" y="4119562"/>
            <a:ext cx="144854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Datensatz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90600" y="5462588"/>
            <a:ext cx="65722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990600" y="4957763"/>
            <a:ext cx="533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14500" y="4900613"/>
            <a:ext cx="13806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705850" y="5462588"/>
            <a:ext cx="65722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705850" y="4957763"/>
            <a:ext cx="533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29750" y="4900613"/>
            <a:ext cx="19730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Gesamtmetrik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90600" y="6243638"/>
            <a:ext cx="65722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990600" y="5738813"/>
            <a:ext cx="533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14500" y="5681663"/>
            <a:ext cx="29318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der Forschung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705850" y="6243638"/>
            <a:ext cx="65722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8705850" y="5738813"/>
            <a:ext cx="533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29750" y="5681663"/>
            <a:ext cx="11946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90600" y="7024688"/>
            <a:ext cx="65722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990600" y="6519863"/>
            <a:ext cx="533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14500" y="6462713"/>
            <a:ext cx="23633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Forschungsfrage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8705850" y="7024688"/>
            <a:ext cx="65722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8705850" y="6519863"/>
            <a:ext cx="533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429750" y="6462713"/>
            <a:ext cx="11946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90600" y="7805738"/>
            <a:ext cx="65722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990600" y="7300913"/>
            <a:ext cx="533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714500" y="7243763"/>
            <a:ext cx="270500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und Methodik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8705850" y="7805738"/>
            <a:ext cx="65722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8705850" y="7300913"/>
            <a:ext cx="533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429750" y="7243763"/>
            <a:ext cx="607772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 err="1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</a:t>
            </a:r>
            <a:r>
              <a:rPr lang="en-US" sz="24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 </a:t>
            </a:r>
            <a:r>
              <a:rPr lang="en-US" sz="2400" dirty="0" err="1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Fazit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75193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EINLEITUNG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751932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Memes sind allgegenwärtig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6993344" y="1009650"/>
            <a:ext cx="3802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400300"/>
            <a:ext cx="685800" cy="28575"/>
          </a:xfrm>
          <a:prstGeom prst="roundRect">
            <a:avLst>
              <a:gd name="adj" fmla="val 50000"/>
            </a:avLst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990600" y="4024313"/>
            <a:ext cx="5219700" cy="200025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352550" y="4386263"/>
            <a:ext cx="463067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50" b="1" kern="0" spc="-87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7–8 Mio.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1352550" y="5091113"/>
            <a:ext cx="463067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Memes täglich, stark getrieben durch KI-Werkzeuge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34150" y="4024313"/>
            <a:ext cx="5219700" cy="200025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896100" y="4386263"/>
            <a:ext cx="463067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50" b="1" kern="0" spc="-87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Mrd.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6896100" y="5091113"/>
            <a:ext cx="463067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Social-Media-Nutzer, ca. 60 % teilen Memes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077700" y="4024313"/>
            <a:ext cx="5219700" cy="200025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2439650" y="4386263"/>
            <a:ext cx="463067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50" b="1" kern="0" spc="-87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von 3</a:t>
            </a:r>
            <a:endParaRPr lang="en-US" sz="4350" dirty="0"/>
          </a:p>
        </p:txBody>
      </p:sp>
      <p:sp>
        <p:nvSpPr>
          <p:cNvPr id="14" name="Text 12"/>
          <p:cNvSpPr/>
          <p:nvPr/>
        </p:nvSpPr>
        <p:spPr>
          <a:xfrm>
            <a:off x="12439650" y="5091113"/>
            <a:ext cx="46306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Menschen begegnen Hassrede online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28750" y="6538913"/>
            <a:ext cx="137874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4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Hassrede-Anteil </a:t>
            </a: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 0,05–0,06 % auf großen Plattformen, bis 5–8 % auf Nischenplattformen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28750" y="7262813"/>
            <a:ext cx="137874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4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Folgen: </a:t>
            </a: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psychische Belastung Betroffener, Radikalisierung, gesellschaftliche Spaltung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84487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PROBLEME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844874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Detektion schwierig ist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6986498" y="1009650"/>
            <a:ext cx="3871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400300"/>
            <a:ext cx="685800" cy="28575"/>
          </a:xfrm>
          <a:prstGeom prst="roundRect">
            <a:avLst>
              <a:gd name="adj" fmla="val 50000"/>
            </a:avLst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428750" y="4557713"/>
            <a:ext cx="137874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Detektion erfordert </a:t>
            </a:r>
            <a:r>
              <a:rPr lang="en-US" sz="24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</a:t>
            </a: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das Erkennen von </a:t>
            </a:r>
            <a:r>
              <a:rPr lang="en-US" sz="24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Ironie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28750" y="5281613"/>
            <a:ext cx="137874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</a:t>
            </a:r>
            <a:r>
              <a:rPr lang="en-US" sz="24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allein </a:t>
            </a: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meist harmlos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28750" y="6005513"/>
            <a:ext cx="137874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</a:t>
            </a:r>
            <a:r>
              <a:rPr lang="en-US" sz="24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allein </a:t>
            </a: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meist harmlos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28750" y="6729413"/>
            <a:ext cx="137874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die </a:t>
            </a:r>
            <a:r>
              <a:rPr lang="en-US" sz="24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Kombination aus Bild und Text </a:t>
            </a: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entscheidet, ob ein Meme hateful ist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44056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STAND DER FORSCHUNG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970228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the Art - AUROC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6982629" y="1009650"/>
            <a:ext cx="3909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400300"/>
            <a:ext cx="685800" cy="28575"/>
          </a:xfrm>
          <a:prstGeom prst="roundRect">
            <a:avLst>
              <a:gd name="adj" fmla="val 50000"/>
            </a:avLst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503701" y="7886700"/>
            <a:ext cx="137874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ist die </a:t>
            </a:r>
            <a:r>
              <a:rPr lang="en-US" sz="24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Hateful Memes Challenge </a:t>
            </a: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Meta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3701" y="8610600"/>
            <a:ext cx="1378743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Zuschnitt auf </a:t>
            </a:r>
            <a:r>
              <a:rPr lang="en-US" sz="24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 lauffähige, ressourcenarme </a:t>
            </a: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</a:t>
            </a:r>
            <a:endParaRPr lang="en-US" sz="24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6799766-1B73-465D-C4E6-0AD6C2ADB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357" y="2587475"/>
            <a:ext cx="13281285" cy="4984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46527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FORSCHUNGSFRAGE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465274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Forschungsfrage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6984117" y="1009650"/>
            <a:ext cx="3894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400300"/>
            <a:ext cx="685800" cy="28575"/>
          </a:xfrm>
          <a:prstGeom prst="roundRect">
            <a:avLst>
              <a:gd name="adj" fmla="val 50000"/>
            </a:avLst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90600" y="4462463"/>
            <a:ext cx="15304770" cy="1781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3450" kern="0" spc="-34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Inwieweit lässt sich durch die Kombination von </a:t>
            </a:r>
            <a:r>
              <a:rPr lang="en-US" sz="3450" b="1" kern="0" spc="-3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r>
              <a:rPr lang="en-US" sz="3450" kern="0" spc="-34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3450" b="1" kern="0" spc="-3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 Fine-Tuning </a:t>
            </a:r>
            <a:r>
              <a:rPr lang="en-US" sz="3450" kern="0" spc="-34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</a:t>
            </a:r>
            <a:r>
              <a:rPr lang="en-US" sz="3450" b="1" kern="0" spc="-3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</a:t>
            </a:r>
            <a:r>
              <a:rPr lang="en-US" sz="3450" kern="0" spc="-34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Klassifikationsleistung lokaler LLMs bei multimodalen Hateful Memes optimieren?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90600" y="7100888"/>
            <a:ext cx="16306800" cy="600075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257300" y="7253288"/>
            <a:ext cx="162626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Hardware · alles unter 8 GB RAM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56416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TOOLS UND METHODIK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564164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Pipeline-Architektur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6982182" y="1009650"/>
            <a:ext cx="39141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99676" y="2286000"/>
            <a:ext cx="11496207" cy="7267809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228DF152-D8F7-10D6-5C4A-C92F40E18B23}"/>
              </a:ext>
            </a:extLst>
          </p:cNvPr>
          <p:cNvSpPr/>
          <p:nvPr/>
        </p:nvSpPr>
        <p:spPr>
          <a:xfrm>
            <a:off x="4002374" y="5561991"/>
            <a:ext cx="1199213" cy="554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23FCF3AB-6775-CA12-E57C-E8B75D10BDA1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4002374" y="5839309"/>
            <a:ext cx="11992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8978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DATENSATZ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897898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Hateful Meme Dataset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6997065" y="1009650"/>
            <a:ext cx="3765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400300"/>
            <a:ext cx="685800" cy="28575"/>
          </a:xfrm>
          <a:prstGeom prst="roundRect">
            <a:avLst>
              <a:gd name="adj" fmla="val 50000"/>
            </a:avLst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90600" y="3781425"/>
            <a:ext cx="142255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 Memes, aufgeteilt in drei Bereiche: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90600" y="4391025"/>
            <a:ext cx="5270450" cy="1838325"/>
          </a:xfrm>
          <a:prstGeom prst="roundRect">
            <a:avLst>
              <a:gd name="adj" fmla="val 82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304925" y="4686300"/>
            <a:ext cx="478105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8.500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304925" y="5286375"/>
            <a:ext cx="47810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train.jsonl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304925" y="5667375"/>
            <a:ext cx="47810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&amp; RAG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08700" y="4391025"/>
            <a:ext cx="5270450" cy="1838325"/>
          </a:xfrm>
          <a:prstGeom prst="roundRect">
            <a:avLst>
              <a:gd name="adj" fmla="val 82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823025" y="4686300"/>
            <a:ext cx="478105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6823025" y="5286375"/>
            <a:ext cx="47810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dev.jsonl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6823025" y="5667375"/>
            <a:ext cx="47810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026801" y="4391025"/>
            <a:ext cx="5270599" cy="1838325"/>
          </a:xfrm>
          <a:prstGeom prst="roundRect">
            <a:avLst>
              <a:gd name="adj" fmla="val 82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2341126" y="4686300"/>
            <a:ext cx="478120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2341126" y="5286375"/>
            <a:ext cx="47812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test.jsonl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2341126" y="5667375"/>
            <a:ext cx="4781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Finaler Test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0600" y="6610350"/>
            <a:ext cx="167960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Aufbau jsonl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990600" y="6981825"/>
            <a:ext cx="16306800" cy="962025"/>
          </a:xfrm>
          <a:prstGeom prst="roundRect">
            <a:avLst>
              <a:gd name="adj" fmla="val 15842"/>
            </a:avLst>
          </a:prstGeom>
          <a:solidFill>
            <a:srgbClr val="1A1E2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1371600" y="7305675"/>
            <a:ext cx="160340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575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575" dirty="0">
                <a:solidFill>
                  <a:srgbClr val="E6EAF0"/>
                </a:solidFill>
                <a:highlight>
                  <a:srgbClr val="1A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:42953, </a:t>
            </a:r>
            <a:r>
              <a:rPr lang="en-US" sz="1575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"img"</a:t>
            </a:r>
            <a:r>
              <a:rPr lang="en-US" sz="1575" dirty="0">
                <a:solidFill>
                  <a:srgbClr val="E6EAF0"/>
                </a:solidFill>
                <a:highlight>
                  <a:srgbClr val="1A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:"img/42953.png", </a:t>
            </a:r>
            <a:r>
              <a:rPr lang="en-US" sz="1575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"label"</a:t>
            </a:r>
            <a:r>
              <a:rPr lang="en-US" sz="1575" dirty="0">
                <a:solidFill>
                  <a:srgbClr val="E6EAF0"/>
                </a:solidFill>
                <a:highlight>
                  <a:srgbClr val="1A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:0, </a:t>
            </a:r>
            <a:r>
              <a:rPr lang="en-US" sz="1575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575" dirty="0">
                <a:solidFill>
                  <a:srgbClr val="E6EAF0"/>
                </a:solidFill>
                <a:highlight>
                  <a:srgbClr val="1A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:"its their character not their color that matters"</a:t>
            </a:r>
            <a:r>
              <a:rPr lang="en-US" sz="1575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58542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GESAMTMETRIK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585425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Bewertungsmetriken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6981884" y="1009650"/>
            <a:ext cx="3917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400300"/>
            <a:ext cx="685800" cy="28575"/>
          </a:xfrm>
          <a:prstGeom prst="roundRect">
            <a:avLst>
              <a:gd name="adj" fmla="val 50000"/>
            </a:avLst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990600" y="4481513"/>
            <a:ext cx="1428750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90600" y="3824288"/>
            <a:ext cx="29432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4133850" y="3862387"/>
            <a:ext cx="516060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Anteil insgesamt korrekter Klassifikationen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90600" y="5395913"/>
            <a:ext cx="1428750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90600" y="4738688"/>
            <a:ext cx="29432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 </a:t>
            </a:r>
            <a:r>
              <a:rPr lang="en-US" sz="1350" b="1" dirty="0">
                <a:solidFill>
                  <a:srgbClr val="2F5DCB"/>
                </a:solidFill>
                <a:highlight>
                  <a:srgbClr val="EAF0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LEITMETRIK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133850" y="4776788"/>
            <a:ext cx="582298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Trennschärfe zwischen hateful und nicht-hateful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90600" y="6310313"/>
            <a:ext cx="1428750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90600" y="5653088"/>
            <a:ext cx="29432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4133850" y="5691188"/>
            <a:ext cx="671285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„hateful“ vorhergesagt wird – wie oft stimmt das?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90600" y="7224713"/>
            <a:ext cx="1428750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990600" y="6567488"/>
            <a:ext cx="29432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4133850" y="6605588"/>
            <a:ext cx="67189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viele der echten hateful Memes werden gefunden?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8139112"/>
            <a:ext cx="1428750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990600" y="7481887"/>
            <a:ext cx="29432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4133850" y="7519988"/>
            <a:ext cx="55879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Harmonisches Mittel aus Precision und Recall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729038"/>
            <a:ext cx="167960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ERSTER ABSCHNITT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4905375"/>
            <a:ext cx="1457623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0" b="1" kern="0" spc="-900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2753023" y="5538788"/>
            <a:ext cx="3523791" cy="1057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-132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6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38916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389164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 der Phase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024152" y="1009650"/>
            <a:ext cx="3494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400300"/>
            <a:ext cx="685800" cy="28575"/>
          </a:xfrm>
          <a:prstGeom prst="roundRect">
            <a:avLst>
              <a:gd name="adj" fmla="val 50000"/>
            </a:avLst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90600" y="2752725"/>
            <a:ext cx="1589341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3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Beschreibung muss die klassifikationsrelevante Information — </a:t>
            </a:r>
            <a:r>
              <a:rPr lang="en-US" sz="2325" b="1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Zielgruppe + Symbolik </a:t>
            </a:r>
            <a:r>
              <a:rPr lang="en-US" sz="23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verlustfrei in Text übersetzen, damit Phase 2 sie überhaupt bewerten kann.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990600" y="3944052"/>
            <a:ext cx="16796004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Bewertungsgrundlage — HatReD-Datensatz, zwei JSONL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25652" y="4670764"/>
            <a:ext cx="81821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5D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race.jsonl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5652" y="5070814"/>
            <a:ext cx="81821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Ethnie + Geschlecht der abgebildeten Personen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90600" y="5929036"/>
            <a:ext cx="7943850" cy="923925"/>
          </a:xfrm>
          <a:prstGeom prst="roundRect">
            <a:avLst>
              <a:gd name="adj" fmla="val 16495"/>
            </a:avLst>
          </a:prstGeom>
          <a:solidFill>
            <a:srgbClr val="1A1E2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090707" y="6103298"/>
            <a:ext cx="7981950" cy="866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00" b="1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600" b="1" dirty="0">
                <a:solidFill>
                  <a:srgbClr val="E6EAF0"/>
                </a:solidFill>
                <a:highlight>
                  <a:srgbClr val="1A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1235, </a:t>
            </a: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"img"</a:t>
            </a:r>
            <a:r>
              <a:rPr lang="en-US" sz="1600" b="1" dirty="0">
                <a:solidFill>
                  <a:srgbClr val="E6EAF0"/>
                </a:solidFill>
                <a:highlight>
                  <a:srgbClr val="1A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"01235.png", </a:t>
            </a: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"race"</a:t>
            </a:r>
            <a:r>
              <a:rPr lang="en-US" sz="1600" b="1" dirty="0">
                <a:solidFill>
                  <a:srgbClr val="E6EAF0"/>
                </a:solidFill>
                <a:highlight>
                  <a:srgbClr val="1A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"Middle Eastern Male"</a:t>
            </a:r>
            <a:r>
              <a:rPr lang="en-US" sz="1600" b="1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b="1" dirty="0"/>
          </a:p>
        </p:txBody>
      </p:sp>
      <p:sp>
        <p:nvSpPr>
          <p:cNvPr id="12" name="Text 10"/>
          <p:cNvSpPr/>
          <p:nvPr/>
        </p:nvSpPr>
        <p:spPr>
          <a:xfrm>
            <a:off x="9388602" y="4670764"/>
            <a:ext cx="81821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5D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entity.jsonl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88602" y="5070814"/>
            <a:ext cx="8182165" cy="648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Erkannte Symbole, Objekte und benannte Entitäten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353550" y="5929036"/>
            <a:ext cx="7943850" cy="1802411"/>
          </a:xfrm>
          <a:prstGeom prst="roundRect">
            <a:avLst>
              <a:gd name="adj" fmla="val 10323"/>
            </a:avLst>
          </a:prstGeom>
          <a:solidFill>
            <a:srgbClr val="1A1E2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9734550" y="6252886"/>
            <a:ext cx="7420166" cy="1688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00" b="1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600" b="1" dirty="0">
                <a:solidFill>
                  <a:srgbClr val="E6EAF0"/>
                </a:solidFill>
                <a:highlight>
                  <a:srgbClr val="1A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1247, </a:t>
            </a: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"img"</a:t>
            </a:r>
            <a:r>
              <a:rPr lang="en-US" sz="1600" b="1" dirty="0">
                <a:solidFill>
                  <a:srgbClr val="E6EAF0"/>
                </a:solidFill>
                <a:highlight>
                  <a:srgbClr val="1A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"01247.png", </a:t>
            </a: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"entity" </a:t>
            </a:r>
            <a:r>
              <a:rPr lang="en-US" sz="1600" b="1" dirty="0">
                <a:solidFill>
                  <a:srgbClr val="E6EAF0"/>
                </a:solidFill>
                <a:highlight>
                  <a:srgbClr val="1A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"Führerbunker World War II Mein Kampf Nazi Party Nazism Paintings by Adolf Hitler Toothbrush moustache 1945 adolf hitler" </a:t>
            </a:r>
            <a:r>
              <a:rPr lang="en-US" sz="1600" b="1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08322" y="797296"/>
            <a:ext cx="159517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5100" b="1" noProof="1">
                <a:solidFill>
                  <a:srgbClr val="141414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Prompt Engineering – Phase 1</a:t>
            </a:r>
            <a:endParaRPr lang="en-GB" sz="51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637508" y="95326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GB" sz="1650" noProof="1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GB" sz="1650" noProof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C1AD405-6FD5-BBC5-1D1E-C989D652010E}"/>
              </a:ext>
            </a:extLst>
          </p:cNvPr>
          <p:cNvSpPr txBox="1"/>
          <p:nvPr/>
        </p:nvSpPr>
        <p:spPr>
          <a:xfrm>
            <a:off x="908322" y="3543085"/>
            <a:ext cx="1768999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100" noProof="1">
                <a:solidFill>
                  <a:srgbClr val="C00000"/>
                </a:solidFill>
              </a:rPr>
              <a:t>You are a forensic image analyst specializing in hate speech and content moderation research.</a:t>
            </a:r>
          </a:p>
          <a:p>
            <a:endParaRPr lang="en-GB" sz="2100" noProof="1">
              <a:solidFill>
                <a:srgbClr val="C00000"/>
              </a:solidFill>
            </a:endParaRPr>
          </a:p>
          <a:p>
            <a:r>
              <a:rPr lang="en-GB" sz="2100" noProof="1">
                <a:solidFill>
                  <a:srgbClr val="FFC000"/>
                </a:solidFill>
              </a:rPr>
              <a:t>Describe what you see in this image.</a:t>
            </a:r>
          </a:p>
          <a:p>
            <a:endParaRPr lang="en-GB" sz="2100" noProof="1">
              <a:solidFill>
                <a:srgbClr val="C00000"/>
              </a:solidFill>
            </a:endParaRPr>
          </a:p>
          <a:p>
            <a:r>
              <a:rPr lang="en-GB" sz="2100" noProof="1">
                <a:solidFill>
                  <a:srgbClr val="00B0F0"/>
                </a:solidFill>
              </a:rPr>
              <a:t>If present or inferable, note the following attributes:</a:t>
            </a:r>
            <a:br>
              <a:rPr lang="en-GB" sz="2100" noProof="1">
                <a:solidFill>
                  <a:srgbClr val="00B0F0"/>
                </a:solidFill>
              </a:rPr>
            </a:br>
            <a:r>
              <a:rPr lang="en-GB" sz="2100" noProof="1">
                <a:solidFill>
                  <a:srgbClr val="00B0F0"/>
                </a:solidFill>
              </a:rPr>
              <a:t>Target — Demographics: race/ethnicity, nationality/region/citizenship, religion/belief, gender/sex/sexual orientation, disability, age, appearance.</a:t>
            </a:r>
            <a:br>
              <a:rPr lang="en-GB" sz="2100" noProof="1">
                <a:solidFill>
                  <a:srgbClr val="00B0F0"/>
                </a:solidFill>
              </a:rPr>
            </a:br>
            <a:r>
              <a:rPr lang="en-GB" sz="2100" noProof="1">
                <a:solidFill>
                  <a:srgbClr val="00B0F0"/>
                </a:solidFill>
              </a:rPr>
              <a:t>Target — Socio-economic role: occupation/profession, family status, legal status, socio-economic status.</a:t>
            </a:r>
            <a:br>
              <a:rPr lang="en-GB" sz="2100" noProof="1">
                <a:solidFill>
                  <a:srgbClr val="00B0F0"/>
                </a:solidFill>
              </a:rPr>
            </a:br>
            <a:r>
              <a:rPr lang="en-GB" sz="2100" noProof="1">
                <a:solidFill>
                  <a:srgbClr val="00B0F0"/>
                </a:solidFill>
              </a:rPr>
              <a:t>Intent/Purpose — Discrimination &amp; Prejudice: humiliation directed at a group.</a:t>
            </a:r>
            <a:br>
              <a:rPr lang="en-GB" sz="2100" noProof="1">
                <a:solidFill>
                  <a:srgbClr val="00B0F0"/>
                </a:solidFill>
              </a:rPr>
            </a:br>
            <a:r>
              <a:rPr lang="en-GB" sz="2100" noProof="1">
                <a:solidFill>
                  <a:srgbClr val="00B0F0"/>
                </a:solidFill>
              </a:rPr>
              <a:t>Intent/Purpose — Hostility &amp; Aggression: conflict, discord.</a:t>
            </a:r>
            <a:br>
              <a:rPr lang="en-GB" sz="2100" noProof="1">
                <a:solidFill>
                  <a:srgbClr val="00B0F0"/>
                </a:solidFill>
              </a:rPr>
            </a:br>
            <a:r>
              <a:rPr lang="en-GB" sz="2100" noProof="1">
                <a:solidFill>
                  <a:srgbClr val="00B0F0"/>
                </a:solidFill>
              </a:rPr>
              <a:t>Intent/Purpose — Social/Cultural Control: manipulation, stereotyping, propaganda, exclusion, suppression, silencing, marginalization.</a:t>
            </a:r>
            <a:br>
              <a:rPr lang="en-GB" sz="2100" noProof="1">
                <a:solidFill>
                  <a:srgbClr val="00B0F0"/>
                </a:solidFill>
              </a:rPr>
            </a:br>
            <a:r>
              <a:rPr lang="en-GB" sz="2100" noProof="1">
                <a:solidFill>
                  <a:srgbClr val="00B0F0"/>
                </a:solidFill>
              </a:rPr>
              <a:t>Act/Means — Verbal/Written Expressions: insults, defamation, provocation.</a:t>
            </a:r>
            <a:br>
              <a:rPr lang="en-GB" sz="2100" noProof="1">
                <a:solidFill>
                  <a:srgbClr val="00B0F0"/>
                </a:solidFill>
              </a:rPr>
            </a:br>
            <a:r>
              <a:rPr lang="en-GB" sz="2100" noProof="1">
                <a:solidFill>
                  <a:srgbClr val="00B0F0"/>
                </a:solidFill>
              </a:rPr>
              <a:t>Act/Means — Physical Action: violence, desecration.</a:t>
            </a:r>
            <a:br>
              <a:rPr lang="en-GB" sz="2100" noProof="1">
                <a:solidFill>
                  <a:srgbClr val="00B0F0"/>
                </a:solidFill>
              </a:rPr>
            </a:br>
            <a:br>
              <a:rPr lang="en-GB" sz="2100" noProof="1">
                <a:solidFill>
                  <a:srgbClr val="00B0F0"/>
                </a:solidFill>
              </a:rPr>
            </a:br>
            <a:r>
              <a:rPr lang="en-GB" sz="2100" noProof="1">
                <a:solidFill>
                  <a:schemeClr val="accent4">
                    <a:lumMod val="75000"/>
                  </a:schemeClr>
                </a:solidFill>
              </a:rPr>
              <a:t>Ignore text on the image.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033DD18-573F-AFDA-3267-4FE56381911A}"/>
              </a:ext>
            </a:extLst>
          </p:cNvPr>
          <p:cNvSpPr txBox="1"/>
          <p:nvPr/>
        </p:nvSpPr>
        <p:spPr>
          <a:xfrm>
            <a:off x="908322" y="2411515"/>
            <a:ext cx="15394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noProof="1">
                <a:solidFill>
                  <a:srgbClr val="C00000"/>
                </a:solidFill>
              </a:rPr>
              <a:t>Role Prompting </a:t>
            </a:r>
            <a:r>
              <a:rPr lang="en-GB" sz="3600" noProof="1"/>
              <a:t>+ </a:t>
            </a:r>
            <a:r>
              <a:rPr lang="en-GB" sz="3600" noProof="1">
                <a:solidFill>
                  <a:srgbClr val="FFC000"/>
                </a:solidFill>
              </a:rPr>
              <a:t>Zero Shot </a:t>
            </a:r>
            <a:r>
              <a:rPr lang="en-GB" sz="3600" noProof="1"/>
              <a:t>+ </a:t>
            </a:r>
            <a:r>
              <a:rPr lang="en-GB" sz="3600" noProof="1">
                <a:solidFill>
                  <a:srgbClr val="00B0F0"/>
                </a:solidFill>
              </a:rPr>
              <a:t>Attribute Driven</a:t>
            </a:r>
            <a:r>
              <a:rPr lang="en-GB" sz="3600" noProof="1"/>
              <a:t> + </a:t>
            </a:r>
            <a:r>
              <a:rPr lang="en-GB" sz="3600" noProof="1">
                <a:solidFill>
                  <a:schemeClr val="accent4">
                    <a:lumMod val="75000"/>
                  </a:schemeClr>
                </a:solidFill>
              </a:rPr>
              <a:t>Constraints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104634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1046347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Qualität der Bildbeschreibungen je Stil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95363" y="3357563"/>
            <a:ext cx="4503241" cy="495300"/>
          </a:xfrm>
          <a:prstGeom prst="rect">
            <a:avLst/>
          </a:prstGeom>
          <a:solidFill>
            <a:srgbClr val="16191D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138238" y="3490913"/>
            <a:ext cx="43525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5498604" y="3357563"/>
            <a:ext cx="3754487" cy="495300"/>
          </a:xfrm>
          <a:prstGeom prst="rect">
            <a:avLst/>
          </a:prstGeom>
          <a:solidFill>
            <a:srgbClr val="16191D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585162" y="3490913"/>
            <a:ext cx="35813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Ethnie-Recall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253091" y="3357563"/>
            <a:ext cx="3646736" cy="495300"/>
          </a:xfrm>
          <a:prstGeom prst="rect">
            <a:avLst/>
          </a:prstGeom>
          <a:solidFill>
            <a:srgbClr val="16191D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341265" y="3490913"/>
            <a:ext cx="34703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Entity-Recall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12899827" y="3357563"/>
            <a:ext cx="2102793" cy="495300"/>
          </a:xfrm>
          <a:prstGeom prst="rect">
            <a:avLst/>
          </a:prstGeom>
          <a:solidFill>
            <a:srgbClr val="16191D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3004602" y="3490913"/>
            <a:ext cx="18932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Länge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5002619" y="3357563"/>
            <a:ext cx="2290316" cy="495300"/>
          </a:xfrm>
          <a:prstGeom prst="rect">
            <a:avLst/>
          </a:prstGeom>
          <a:solidFill>
            <a:srgbClr val="16191D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5107394" y="3490913"/>
            <a:ext cx="2080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995363" y="3852863"/>
            <a:ext cx="4503241" cy="523875"/>
          </a:xfrm>
          <a:prstGeom prst="rect">
            <a:avLst/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138238" y="3986213"/>
            <a:ext cx="43525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ZS+AD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5498604" y="3852863"/>
            <a:ext cx="3754487" cy="523875"/>
          </a:xfrm>
          <a:prstGeom prst="rect">
            <a:avLst/>
          </a:prstGeom>
          <a:solidFill>
            <a:srgbClr val="1F8A5B">
              <a:alpha val="63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585162" y="3986213"/>
            <a:ext cx="35813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58,8%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9253091" y="3852863"/>
            <a:ext cx="3646736" cy="523875"/>
          </a:xfrm>
          <a:prstGeom prst="rect">
            <a:avLst/>
          </a:prstGeom>
          <a:solidFill>
            <a:srgbClr val="1F8A5B">
              <a:alpha val="63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9341265" y="3986213"/>
            <a:ext cx="34703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21,2%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12899827" y="3852863"/>
            <a:ext cx="2102793" cy="52387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13004602" y="3986213"/>
            <a:ext cx="18932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2242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15002619" y="3852863"/>
            <a:ext cx="2290316" cy="523875"/>
          </a:xfrm>
          <a:prstGeom prst="rect">
            <a:avLst/>
          </a:prstGeom>
          <a:solidFill>
            <a:srgbClr val="D04034">
              <a:alpha val="50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15107394" y="3986213"/>
            <a:ext cx="20807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14,0%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995363" y="4376738"/>
            <a:ext cx="4503241" cy="523875"/>
          </a:xfrm>
          <a:prstGeom prst="rect">
            <a:avLst/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1138238" y="4510087"/>
            <a:ext cx="43525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ZS+AD(min)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5498604" y="4376738"/>
            <a:ext cx="3754487" cy="523875"/>
          </a:xfrm>
          <a:prstGeom prst="rect">
            <a:avLst/>
          </a:prstGeom>
          <a:solidFill>
            <a:srgbClr val="1F8A5B">
              <a:alpha val="61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5585162" y="4510087"/>
            <a:ext cx="35813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57,3%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9253091" y="4376738"/>
            <a:ext cx="3646736" cy="523875"/>
          </a:xfrm>
          <a:prstGeom prst="rect">
            <a:avLst/>
          </a:prstGeom>
          <a:solidFill>
            <a:srgbClr val="1F8A5B">
              <a:alpha val="43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9341265" y="4510087"/>
            <a:ext cx="34703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17,7%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12899827" y="4376738"/>
            <a:ext cx="2102793" cy="52387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13004602" y="4510087"/>
            <a:ext cx="18932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1614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15002619" y="4376738"/>
            <a:ext cx="2290316" cy="523875"/>
          </a:xfrm>
          <a:prstGeom prst="rect">
            <a:avLst/>
          </a:prstGeom>
          <a:solidFill>
            <a:srgbClr val="D04034">
              <a:alpha val="25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15107394" y="4510087"/>
            <a:ext cx="20807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7,4%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995363" y="4900613"/>
            <a:ext cx="4503241" cy="523875"/>
          </a:xfrm>
          <a:prstGeom prst="rect">
            <a:avLst/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1138238" y="5033963"/>
            <a:ext cx="43525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ZS+RP+AD(min)</a:t>
            </a:r>
            <a:endParaRPr lang="en-US" sz="1575" dirty="0"/>
          </a:p>
        </p:txBody>
      </p:sp>
      <p:sp>
        <p:nvSpPr>
          <p:cNvPr id="37" name="Shape 35"/>
          <p:cNvSpPr/>
          <p:nvPr/>
        </p:nvSpPr>
        <p:spPr>
          <a:xfrm>
            <a:off x="5498604" y="4900613"/>
            <a:ext cx="3754487" cy="523875"/>
          </a:xfrm>
          <a:prstGeom prst="rect">
            <a:avLst/>
          </a:prstGeom>
          <a:solidFill>
            <a:srgbClr val="1F8A5B">
              <a:alpha val="41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5585162" y="5033963"/>
            <a:ext cx="35813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48,0%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9253091" y="4900613"/>
            <a:ext cx="3646736" cy="523875"/>
          </a:xfrm>
          <a:prstGeom prst="rect">
            <a:avLst/>
          </a:prstGeom>
          <a:solidFill>
            <a:srgbClr val="1F8A5B">
              <a:alpha val="38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9341265" y="5033963"/>
            <a:ext cx="34703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16,6%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12899827" y="4900613"/>
            <a:ext cx="2102793" cy="52387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13004602" y="5033963"/>
            <a:ext cx="18932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1802</a:t>
            </a:r>
            <a:endParaRPr lang="en-US" sz="1725" dirty="0"/>
          </a:p>
        </p:txBody>
      </p:sp>
      <p:sp>
        <p:nvSpPr>
          <p:cNvPr id="43" name="Shape 41"/>
          <p:cNvSpPr/>
          <p:nvPr/>
        </p:nvSpPr>
        <p:spPr>
          <a:xfrm>
            <a:off x="15002619" y="4900613"/>
            <a:ext cx="2290316" cy="523875"/>
          </a:xfrm>
          <a:prstGeom prst="rect">
            <a:avLst/>
          </a:prstGeom>
          <a:solidFill>
            <a:srgbClr val="D04034">
              <a:alpha val="46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15107394" y="5033963"/>
            <a:ext cx="20807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13,0%</a:t>
            </a:r>
            <a:endParaRPr lang="en-US" sz="1725" dirty="0"/>
          </a:p>
        </p:txBody>
      </p:sp>
      <p:sp>
        <p:nvSpPr>
          <p:cNvPr id="45" name="Shape 43"/>
          <p:cNvSpPr/>
          <p:nvPr/>
        </p:nvSpPr>
        <p:spPr>
          <a:xfrm>
            <a:off x="995363" y="5424488"/>
            <a:ext cx="4503241" cy="523875"/>
          </a:xfrm>
          <a:prstGeom prst="rect">
            <a:avLst/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1138238" y="5557838"/>
            <a:ext cx="43525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ZS+RP+AD</a:t>
            </a:r>
            <a:endParaRPr lang="en-US" sz="1575" dirty="0"/>
          </a:p>
        </p:txBody>
      </p:sp>
      <p:sp>
        <p:nvSpPr>
          <p:cNvPr id="47" name="Shape 45"/>
          <p:cNvSpPr/>
          <p:nvPr/>
        </p:nvSpPr>
        <p:spPr>
          <a:xfrm>
            <a:off x="5498604" y="5424488"/>
            <a:ext cx="3754487" cy="523875"/>
          </a:xfrm>
          <a:prstGeom prst="rect">
            <a:avLst/>
          </a:prstGeom>
          <a:solidFill>
            <a:srgbClr val="1F8A5B">
              <a:alpha val="25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5585162" y="5557838"/>
            <a:ext cx="35813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41,2%</a:t>
            </a:r>
            <a:endParaRPr lang="en-US" sz="1725" dirty="0"/>
          </a:p>
        </p:txBody>
      </p:sp>
      <p:sp>
        <p:nvSpPr>
          <p:cNvPr id="49" name="Shape 47"/>
          <p:cNvSpPr/>
          <p:nvPr/>
        </p:nvSpPr>
        <p:spPr>
          <a:xfrm>
            <a:off x="9253091" y="5424488"/>
            <a:ext cx="3646736" cy="523875"/>
          </a:xfrm>
          <a:prstGeom prst="rect">
            <a:avLst/>
          </a:prstGeom>
          <a:solidFill>
            <a:srgbClr val="1F8A5B">
              <a:alpha val="28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9341265" y="5557838"/>
            <a:ext cx="34703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14,2%</a:t>
            </a:r>
            <a:endParaRPr lang="en-US" sz="1725" dirty="0"/>
          </a:p>
        </p:txBody>
      </p:sp>
      <p:sp>
        <p:nvSpPr>
          <p:cNvPr id="51" name="Shape 49"/>
          <p:cNvSpPr/>
          <p:nvPr/>
        </p:nvSpPr>
        <p:spPr>
          <a:xfrm>
            <a:off x="12899827" y="5424488"/>
            <a:ext cx="2102793" cy="52387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13004602" y="5557838"/>
            <a:ext cx="18932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1012</a:t>
            </a:r>
            <a:endParaRPr lang="en-US" sz="1725" dirty="0"/>
          </a:p>
        </p:txBody>
      </p:sp>
      <p:sp>
        <p:nvSpPr>
          <p:cNvPr id="53" name="Shape 51"/>
          <p:cNvSpPr/>
          <p:nvPr/>
        </p:nvSpPr>
        <p:spPr>
          <a:xfrm>
            <a:off x="15002619" y="5424488"/>
            <a:ext cx="2290316" cy="52387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15107394" y="5557838"/>
            <a:ext cx="20807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1725" dirty="0"/>
          </a:p>
        </p:txBody>
      </p:sp>
      <p:sp>
        <p:nvSpPr>
          <p:cNvPr id="55" name="Shape 53"/>
          <p:cNvSpPr/>
          <p:nvPr/>
        </p:nvSpPr>
        <p:spPr>
          <a:xfrm>
            <a:off x="995363" y="5948363"/>
            <a:ext cx="4503241" cy="523875"/>
          </a:xfrm>
          <a:prstGeom prst="rect">
            <a:avLst/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/>
          <p:nvPr/>
        </p:nvSpPr>
        <p:spPr>
          <a:xfrm>
            <a:off x="1138238" y="6081712"/>
            <a:ext cx="43525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ZS+RP</a:t>
            </a:r>
            <a:endParaRPr lang="en-US" sz="1575" dirty="0"/>
          </a:p>
        </p:txBody>
      </p:sp>
      <p:sp>
        <p:nvSpPr>
          <p:cNvPr id="57" name="Shape 55"/>
          <p:cNvSpPr/>
          <p:nvPr/>
        </p:nvSpPr>
        <p:spPr>
          <a:xfrm>
            <a:off x="5498604" y="5948363"/>
            <a:ext cx="3754487" cy="523875"/>
          </a:xfrm>
          <a:prstGeom prst="rect">
            <a:avLst/>
          </a:prstGeom>
          <a:solidFill>
            <a:srgbClr val="1F8A5B">
              <a:alpha val="23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56"/>
          <p:cNvSpPr/>
          <p:nvPr/>
        </p:nvSpPr>
        <p:spPr>
          <a:xfrm>
            <a:off x="5585162" y="6081712"/>
            <a:ext cx="35813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40,1%</a:t>
            </a:r>
            <a:endParaRPr lang="en-US" sz="1725" dirty="0"/>
          </a:p>
        </p:txBody>
      </p:sp>
      <p:sp>
        <p:nvSpPr>
          <p:cNvPr id="59" name="Shape 57"/>
          <p:cNvSpPr/>
          <p:nvPr/>
        </p:nvSpPr>
        <p:spPr>
          <a:xfrm>
            <a:off x="9253091" y="5948363"/>
            <a:ext cx="3646736" cy="523875"/>
          </a:xfrm>
          <a:prstGeom prst="rect">
            <a:avLst/>
          </a:prstGeom>
          <a:solidFill>
            <a:srgbClr val="1F8A5B">
              <a:alpha val="28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Text 58"/>
          <p:cNvSpPr/>
          <p:nvPr/>
        </p:nvSpPr>
        <p:spPr>
          <a:xfrm>
            <a:off x="9341265" y="6081712"/>
            <a:ext cx="34703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14,5%</a:t>
            </a:r>
            <a:endParaRPr lang="en-US" sz="1725" dirty="0"/>
          </a:p>
        </p:txBody>
      </p:sp>
      <p:sp>
        <p:nvSpPr>
          <p:cNvPr id="61" name="Shape 59"/>
          <p:cNvSpPr/>
          <p:nvPr/>
        </p:nvSpPr>
        <p:spPr>
          <a:xfrm>
            <a:off x="12899827" y="5948363"/>
            <a:ext cx="2102793" cy="52387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Text 60"/>
          <p:cNvSpPr/>
          <p:nvPr/>
        </p:nvSpPr>
        <p:spPr>
          <a:xfrm>
            <a:off x="13004602" y="6081712"/>
            <a:ext cx="18932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1301</a:t>
            </a:r>
            <a:endParaRPr lang="en-US" sz="1725" dirty="0"/>
          </a:p>
        </p:txBody>
      </p:sp>
      <p:sp>
        <p:nvSpPr>
          <p:cNvPr id="63" name="Shape 61"/>
          <p:cNvSpPr/>
          <p:nvPr/>
        </p:nvSpPr>
        <p:spPr>
          <a:xfrm>
            <a:off x="15002619" y="5948363"/>
            <a:ext cx="2290316" cy="52387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" name="Text 62"/>
          <p:cNvSpPr/>
          <p:nvPr/>
        </p:nvSpPr>
        <p:spPr>
          <a:xfrm>
            <a:off x="15107394" y="6081712"/>
            <a:ext cx="20807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1725" dirty="0"/>
          </a:p>
        </p:txBody>
      </p:sp>
      <p:sp>
        <p:nvSpPr>
          <p:cNvPr id="65" name="Shape 63"/>
          <p:cNvSpPr/>
          <p:nvPr/>
        </p:nvSpPr>
        <p:spPr>
          <a:xfrm>
            <a:off x="995363" y="6472238"/>
            <a:ext cx="4503241" cy="523875"/>
          </a:xfrm>
          <a:prstGeom prst="rect">
            <a:avLst/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Text 64"/>
          <p:cNvSpPr/>
          <p:nvPr/>
        </p:nvSpPr>
        <p:spPr>
          <a:xfrm>
            <a:off x="1138238" y="6605588"/>
            <a:ext cx="43525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</a:t>
            </a:r>
            <a:endParaRPr lang="en-US" sz="1575" dirty="0"/>
          </a:p>
        </p:txBody>
      </p:sp>
      <p:sp>
        <p:nvSpPr>
          <p:cNvPr id="67" name="Shape 65"/>
          <p:cNvSpPr/>
          <p:nvPr/>
        </p:nvSpPr>
        <p:spPr>
          <a:xfrm>
            <a:off x="5498604" y="6472238"/>
            <a:ext cx="3754487" cy="523875"/>
          </a:xfrm>
          <a:prstGeom prst="rect">
            <a:avLst/>
          </a:prstGeom>
          <a:solidFill>
            <a:srgbClr val="1F8A5B">
              <a:alpha val="19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8" name="Text 66"/>
          <p:cNvSpPr/>
          <p:nvPr/>
        </p:nvSpPr>
        <p:spPr>
          <a:xfrm>
            <a:off x="5585162" y="6605588"/>
            <a:ext cx="35813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38,0%</a:t>
            </a:r>
            <a:endParaRPr lang="en-US" sz="1725" dirty="0"/>
          </a:p>
        </p:txBody>
      </p:sp>
      <p:sp>
        <p:nvSpPr>
          <p:cNvPr id="69" name="Shape 67"/>
          <p:cNvSpPr/>
          <p:nvPr/>
        </p:nvSpPr>
        <p:spPr>
          <a:xfrm>
            <a:off x="9253091" y="6472238"/>
            <a:ext cx="3646736" cy="523875"/>
          </a:xfrm>
          <a:prstGeom prst="rect">
            <a:avLst/>
          </a:prstGeom>
          <a:solidFill>
            <a:srgbClr val="1F8A5B">
              <a:alpha val="18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0" name="Text 68"/>
          <p:cNvSpPr/>
          <p:nvPr/>
        </p:nvSpPr>
        <p:spPr>
          <a:xfrm>
            <a:off x="9341265" y="6605588"/>
            <a:ext cx="34703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12,2%</a:t>
            </a:r>
            <a:endParaRPr lang="en-US" sz="1725" dirty="0"/>
          </a:p>
        </p:txBody>
      </p:sp>
      <p:sp>
        <p:nvSpPr>
          <p:cNvPr id="71" name="Shape 69"/>
          <p:cNvSpPr/>
          <p:nvPr/>
        </p:nvSpPr>
        <p:spPr>
          <a:xfrm>
            <a:off x="12899827" y="6472238"/>
            <a:ext cx="2102793" cy="52387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2" name="Text 70"/>
          <p:cNvSpPr/>
          <p:nvPr/>
        </p:nvSpPr>
        <p:spPr>
          <a:xfrm>
            <a:off x="13004602" y="6605588"/>
            <a:ext cx="18932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585</a:t>
            </a:r>
            <a:endParaRPr lang="en-US" sz="1725" dirty="0"/>
          </a:p>
        </p:txBody>
      </p:sp>
      <p:sp>
        <p:nvSpPr>
          <p:cNvPr id="73" name="Shape 71"/>
          <p:cNvSpPr/>
          <p:nvPr/>
        </p:nvSpPr>
        <p:spPr>
          <a:xfrm>
            <a:off x="15002619" y="6472238"/>
            <a:ext cx="2290316" cy="52387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4" name="Text 72"/>
          <p:cNvSpPr/>
          <p:nvPr/>
        </p:nvSpPr>
        <p:spPr>
          <a:xfrm>
            <a:off x="15107394" y="6605588"/>
            <a:ext cx="20807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0,4%</a:t>
            </a:r>
            <a:endParaRPr lang="en-US" sz="1725" dirty="0"/>
          </a:p>
        </p:txBody>
      </p:sp>
      <p:sp>
        <p:nvSpPr>
          <p:cNvPr id="75" name="Shape 73"/>
          <p:cNvSpPr/>
          <p:nvPr/>
        </p:nvSpPr>
        <p:spPr>
          <a:xfrm>
            <a:off x="995363" y="6996113"/>
            <a:ext cx="4503241" cy="523875"/>
          </a:xfrm>
          <a:prstGeom prst="rect">
            <a:avLst/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6" name="Text 74"/>
          <p:cNvSpPr/>
          <p:nvPr/>
        </p:nvSpPr>
        <p:spPr>
          <a:xfrm>
            <a:off x="1138238" y="7129463"/>
            <a:ext cx="43525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</a:t>
            </a:r>
            <a:endParaRPr lang="en-US" sz="1575" dirty="0"/>
          </a:p>
        </p:txBody>
      </p:sp>
      <p:sp>
        <p:nvSpPr>
          <p:cNvPr id="77" name="Shape 75"/>
          <p:cNvSpPr/>
          <p:nvPr/>
        </p:nvSpPr>
        <p:spPr>
          <a:xfrm>
            <a:off x="5498604" y="6996113"/>
            <a:ext cx="3754487" cy="523875"/>
          </a:xfrm>
          <a:prstGeom prst="rect">
            <a:avLst/>
          </a:prstGeom>
          <a:solidFill>
            <a:srgbClr val="1F8A5B">
              <a:alpha val="8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8" name="Text 76"/>
          <p:cNvSpPr/>
          <p:nvPr/>
        </p:nvSpPr>
        <p:spPr>
          <a:xfrm>
            <a:off x="5585162" y="7129463"/>
            <a:ext cx="35813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33,7%</a:t>
            </a:r>
            <a:endParaRPr lang="en-US" sz="1725" dirty="0"/>
          </a:p>
        </p:txBody>
      </p:sp>
      <p:sp>
        <p:nvSpPr>
          <p:cNvPr id="79" name="Shape 77"/>
          <p:cNvSpPr/>
          <p:nvPr/>
        </p:nvSpPr>
        <p:spPr>
          <a:xfrm>
            <a:off x="9253091" y="6996113"/>
            <a:ext cx="3646736" cy="523875"/>
          </a:xfrm>
          <a:prstGeom prst="rect">
            <a:avLst/>
          </a:prstGeom>
          <a:solidFill>
            <a:srgbClr val="1F8A5B">
              <a:alpha val="8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0" name="Text 78"/>
          <p:cNvSpPr/>
          <p:nvPr/>
        </p:nvSpPr>
        <p:spPr>
          <a:xfrm>
            <a:off x="9341265" y="7129463"/>
            <a:ext cx="34703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10,8%</a:t>
            </a:r>
            <a:endParaRPr lang="en-US" sz="1725" dirty="0"/>
          </a:p>
        </p:txBody>
      </p:sp>
      <p:sp>
        <p:nvSpPr>
          <p:cNvPr id="81" name="Shape 79"/>
          <p:cNvSpPr/>
          <p:nvPr/>
        </p:nvSpPr>
        <p:spPr>
          <a:xfrm>
            <a:off x="12899827" y="6996113"/>
            <a:ext cx="2102793" cy="52387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2" name="Text 80"/>
          <p:cNvSpPr/>
          <p:nvPr/>
        </p:nvSpPr>
        <p:spPr>
          <a:xfrm>
            <a:off x="13004602" y="7129463"/>
            <a:ext cx="18932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348</a:t>
            </a:r>
            <a:endParaRPr lang="en-US" sz="1725" dirty="0"/>
          </a:p>
        </p:txBody>
      </p:sp>
      <p:sp>
        <p:nvSpPr>
          <p:cNvPr id="83" name="Shape 81"/>
          <p:cNvSpPr/>
          <p:nvPr/>
        </p:nvSpPr>
        <p:spPr>
          <a:xfrm>
            <a:off x="15002619" y="6996113"/>
            <a:ext cx="2290316" cy="523875"/>
          </a:xfrm>
          <a:prstGeom prst="rect">
            <a:avLst/>
          </a:prstGeom>
          <a:solidFill>
            <a:srgbClr val="D04034">
              <a:alpha val="14000"/>
            </a:srgb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4" name="Text 82"/>
          <p:cNvSpPr/>
          <p:nvPr/>
        </p:nvSpPr>
        <p:spPr>
          <a:xfrm>
            <a:off x="15107394" y="7129463"/>
            <a:ext cx="20807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4,4%</a:t>
            </a:r>
            <a:endParaRPr lang="en-US" sz="1725" dirty="0"/>
          </a:p>
        </p:txBody>
      </p:sp>
      <p:sp>
        <p:nvSpPr>
          <p:cNvPr id="85" name="Text 83"/>
          <p:cNvSpPr/>
          <p:nvPr/>
        </p:nvSpPr>
        <p:spPr>
          <a:xfrm>
            <a:off x="990600" y="7734300"/>
            <a:ext cx="1679600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Ethnie-Recall &amp; Entity-Recall: Anteil korrekt enthaltener Angaben (höher = besser, grün). Länge: durchschnittliche Beschreibungslänge. Leer: Anteil leerer Beschreibungen (niedriger = besser, rot).</a:t>
            </a:r>
            <a:endParaRPr lang="en-US" sz="1650" dirty="0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7AC27FD2-ABD3-0AB2-5FEE-9BE5C9A0BCA3}"/>
              </a:ext>
            </a:extLst>
          </p:cNvPr>
          <p:cNvSpPr txBox="1"/>
          <p:nvPr/>
        </p:nvSpPr>
        <p:spPr>
          <a:xfrm>
            <a:off x="941729" y="8674654"/>
            <a:ext cx="166227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Der Attribute-</a:t>
            </a:r>
            <a:r>
              <a:rPr lang="de-DE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driven</a:t>
            </a:r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 Ansatz fokussiert die Bildanalyse systematisch auf relevante Attribute und extrahiert so gezielt die für die Klassifikation entscheidenden Informationen.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F8F0F48-BAA2-0F25-70FF-926268225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424" y="2114550"/>
            <a:ext cx="11851050" cy="783992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4C64917-B612-4B53-5164-7DB93251EC38}"/>
              </a:ext>
            </a:extLst>
          </p:cNvPr>
          <p:cNvSpPr txBox="1"/>
          <p:nvPr/>
        </p:nvSpPr>
        <p:spPr>
          <a:xfrm>
            <a:off x="14882063" y="9252525"/>
            <a:ext cx="4516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Katerina </a:t>
            </a:r>
            <a:r>
              <a:rPr lang="de-DE" sz="1400" dirty="0" err="1"/>
              <a:t>Korre</a:t>
            </a:r>
            <a:r>
              <a:rPr lang="de-DE" sz="1400" dirty="0"/>
              <a:t> et al. 2025 / https://</a:t>
            </a:r>
            <a:r>
              <a:rPr lang="de-DE" sz="1400" dirty="0" err="1"/>
              <a:t>arxiv.org</a:t>
            </a:r>
            <a:r>
              <a:rPr lang="de-DE" sz="1400" dirty="0"/>
              <a:t>/</a:t>
            </a:r>
            <a:r>
              <a:rPr lang="de-DE" sz="1400" dirty="0" err="1"/>
              <a:t>pdf</a:t>
            </a:r>
            <a:r>
              <a:rPr lang="de-DE" sz="1400" dirty="0"/>
              <a:t>/2411.07417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9697D16-9492-BC07-C21D-9A0D275B34D6}"/>
              </a:ext>
            </a:extLst>
          </p:cNvPr>
          <p:cNvSpPr/>
          <p:nvPr/>
        </p:nvSpPr>
        <p:spPr>
          <a:xfrm>
            <a:off x="990600" y="990600"/>
            <a:ext cx="38916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3110943-BBD2-16C8-7217-705C83D85E09}"/>
              </a:ext>
            </a:extLst>
          </p:cNvPr>
          <p:cNvSpPr/>
          <p:nvPr/>
        </p:nvSpPr>
        <p:spPr>
          <a:xfrm>
            <a:off x="990599" y="1476375"/>
            <a:ext cx="977692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 err="1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Grundlage</a:t>
            </a: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für Attribute Driven Prompt</a:t>
            </a:r>
            <a:endParaRPr lang="en-US" sz="4500" dirty="0"/>
          </a:p>
        </p:txBody>
      </p:sp>
    </p:spTree>
    <p:extLst>
      <p:ext uri="{BB962C8B-B14F-4D97-AF65-F5344CB8AC3E}">
        <p14:creationId xmlns:p14="http://schemas.microsoft.com/office/powerpoint/2010/main" val="2558008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30801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308011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040820" y="1009650"/>
            <a:ext cx="3327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400300"/>
            <a:ext cx="685800" cy="28575"/>
          </a:xfrm>
          <a:prstGeom prst="roundRect">
            <a:avLst>
              <a:gd name="adj" fmla="val 50000"/>
            </a:avLst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90600" y="2930889"/>
            <a:ext cx="14225588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Bestes Stil-Ergebnis: </a:t>
            </a:r>
            <a:r>
              <a:rPr lang="en-US" sz="2700" b="1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ZS+AD </a:t>
            </a:r>
            <a:r>
              <a:rPr lang="en-US" sz="27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dem höchsten Ethnie-Recall (58,8 %) und Entity-Recall (21,2 %)</a:t>
            </a:r>
            <a:endParaRPr lang="en-US" sz="2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729038"/>
            <a:ext cx="167960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ZWEITER ABSCHNITT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4905375"/>
            <a:ext cx="1845022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0" b="1" kern="0" spc="-900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3140422" y="5538788"/>
            <a:ext cx="3194012" cy="1057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-132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6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53692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536924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Klassifizierung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030105" y="1009650"/>
            <a:ext cx="3434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400300"/>
            <a:ext cx="685800" cy="28575"/>
          </a:xfrm>
          <a:prstGeom prst="roundRect">
            <a:avLst>
              <a:gd name="adj" fmla="val 50000"/>
            </a:avLst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990600" y="4605338"/>
            <a:ext cx="2831009" cy="857250"/>
          </a:xfrm>
          <a:prstGeom prst="roundRect">
            <a:avLst>
              <a:gd name="adj" fmla="val 15556"/>
            </a:avLst>
          </a:prstGeom>
          <a:ln w="1905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252935" y="4872038"/>
            <a:ext cx="230633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Bildbeschreibung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050209" y="4848225"/>
            <a:ext cx="2653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4467969" y="4605338"/>
            <a:ext cx="2067818" cy="857250"/>
          </a:xfrm>
          <a:prstGeom prst="roundRect">
            <a:avLst>
              <a:gd name="adj" fmla="val 15556"/>
            </a:avLst>
          </a:prstGeom>
          <a:ln w="1905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734669" y="4872038"/>
            <a:ext cx="15344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Meme-Text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1197" y="4591049"/>
            <a:ext cx="1267718" cy="828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0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0" dirty="0"/>
          </a:p>
        </p:txBody>
      </p:sp>
      <p:sp>
        <p:nvSpPr>
          <p:cNvPr id="12" name="Shape 10"/>
          <p:cNvSpPr/>
          <p:nvPr/>
        </p:nvSpPr>
        <p:spPr>
          <a:xfrm>
            <a:off x="8602265" y="4605338"/>
            <a:ext cx="1945332" cy="857250"/>
          </a:xfrm>
          <a:prstGeom prst="roundRect">
            <a:avLst>
              <a:gd name="adj" fmla="val 15556"/>
            </a:avLst>
          </a:prstGeom>
          <a:solidFill>
            <a:srgbClr val="EAF0FB"/>
          </a:solidFill>
          <a:ln w="19050">
            <a:solidFill>
              <a:srgbClr val="2F5DC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868965" y="4872038"/>
            <a:ext cx="14119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Phi-4-mini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347375" y="4586288"/>
            <a:ext cx="2491383" cy="857250"/>
          </a:xfrm>
          <a:prstGeom prst="roundRect">
            <a:avLst>
              <a:gd name="adj" fmla="val 15556"/>
            </a:avLst>
          </a:prstGeom>
          <a:ln w="1905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2614075" y="4852988"/>
            <a:ext cx="19579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Klassifizierung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90600" y="5881688"/>
            <a:ext cx="167960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Ausgabeformat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0600" y="6253163"/>
            <a:ext cx="16306800" cy="962025"/>
          </a:xfrm>
          <a:prstGeom prst="roundRect">
            <a:avLst>
              <a:gd name="adj" fmla="val 15842"/>
            </a:avLst>
          </a:prstGeom>
          <a:solidFill>
            <a:srgbClr val="1A1E2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1371600" y="6438123"/>
            <a:ext cx="16034004" cy="49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b="1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"reasoning"</a:t>
            </a:r>
            <a:r>
              <a:rPr lang="en-US" b="1" dirty="0">
                <a:solidFill>
                  <a:srgbClr val="E6EAF0"/>
                </a:solidFill>
                <a:highlight>
                  <a:srgbClr val="1A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"your brief step-by-step reasoning here", </a:t>
            </a:r>
            <a:r>
              <a:rPr lang="en-US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"label"</a:t>
            </a:r>
            <a:r>
              <a:rPr lang="en-US" b="1" dirty="0">
                <a:solidFill>
                  <a:srgbClr val="E6EAF0"/>
                </a:solidFill>
                <a:highlight>
                  <a:srgbClr val="1A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0/1, </a:t>
            </a:r>
            <a:r>
              <a:rPr lang="en-US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"confidence"</a:t>
            </a:r>
            <a:r>
              <a:rPr lang="en-US" b="1" dirty="0">
                <a:solidFill>
                  <a:srgbClr val="E6EAF0"/>
                </a:solidFill>
                <a:highlight>
                  <a:srgbClr val="1A1E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0–100</a:t>
            </a:r>
            <a:r>
              <a:rPr lang="en-US" b="1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b="1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1EFB10E5-E917-B7C4-5A3B-3195116994BE}"/>
              </a:ext>
            </a:extLst>
          </p:cNvPr>
          <p:cNvSpPr/>
          <p:nvPr/>
        </p:nvSpPr>
        <p:spPr>
          <a:xfrm>
            <a:off x="11079657" y="4614862"/>
            <a:ext cx="1267718" cy="828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0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36560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METHODIKEN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365603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· FT · RAG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031593" y="1009650"/>
            <a:ext cx="3420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576763"/>
            <a:ext cx="1422558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kombinierte Methodiken auf demselben Klassifikations-Prompt: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0600" y="5167313"/>
            <a:ext cx="3166170" cy="857250"/>
          </a:xfrm>
          <a:prstGeom prst="roundRect">
            <a:avLst>
              <a:gd name="adj" fmla="val 15556"/>
            </a:avLst>
          </a:prstGeom>
          <a:solidFill>
            <a:srgbClr val="EAF0FB"/>
          </a:solidFill>
          <a:ln w="19050">
            <a:solidFill>
              <a:srgbClr val="2F5DC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247907" y="5434013"/>
            <a:ext cx="26515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85370" y="5410200"/>
            <a:ext cx="184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4721870" y="5167313"/>
            <a:ext cx="2119015" cy="857250"/>
          </a:xfrm>
          <a:prstGeom prst="roundRect">
            <a:avLst>
              <a:gd name="adj" fmla="val 15556"/>
            </a:avLst>
          </a:prstGeom>
          <a:solidFill>
            <a:srgbClr val="EAF0FB"/>
          </a:solidFill>
          <a:ln w="19050">
            <a:solidFill>
              <a:srgbClr val="2F5DC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988570" y="5434013"/>
            <a:ext cx="15856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069485" y="5410200"/>
            <a:ext cx="184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7405985" y="5167313"/>
            <a:ext cx="1181695" cy="857250"/>
          </a:xfrm>
          <a:prstGeom prst="roundRect">
            <a:avLst>
              <a:gd name="adj" fmla="val 15556"/>
            </a:avLst>
          </a:prstGeom>
          <a:solidFill>
            <a:srgbClr val="EAF0FB"/>
          </a:solidFill>
          <a:ln w="19050">
            <a:solidFill>
              <a:srgbClr val="2F5DC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672685" y="5434013"/>
            <a:ext cx="64829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90600" y="6557963"/>
            <a:ext cx="1845766" cy="428625"/>
          </a:xfrm>
          <a:prstGeom prst="roundRect">
            <a:avLst>
              <a:gd name="adj" fmla="val 17778"/>
            </a:avLst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1171575" y="6653213"/>
            <a:ext cx="156001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Prompting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2950666" y="6557963"/>
            <a:ext cx="1297037" cy="428625"/>
          </a:xfrm>
          <a:prstGeom prst="roundRect">
            <a:avLst>
              <a:gd name="adj" fmla="val 17778"/>
            </a:avLst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3131641" y="6653213"/>
            <a:ext cx="101128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Shot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4362004" y="6557963"/>
            <a:ext cx="1299418" cy="428625"/>
          </a:xfrm>
          <a:prstGeom prst="roundRect">
            <a:avLst>
              <a:gd name="adj" fmla="val 17778"/>
            </a:avLst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542979" y="6653213"/>
            <a:ext cx="10136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5775722" y="6557963"/>
            <a:ext cx="1904256" cy="428625"/>
          </a:xfrm>
          <a:prstGeom prst="roundRect">
            <a:avLst>
              <a:gd name="adj" fmla="val 17778"/>
            </a:avLst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956697" y="6653213"/>
            <a:ext cx="161850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Driven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7794278" y="6557963"/>
            <a:ext cx="737146" cy="428625"/>
          </a:xfrm>
          <a:prstGeom prst="roundRect">
            <a:avLst>
              <a:gd name="adj" fmla="val 17778"/>
            </a:avLst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7975253" y="6653213"/>
            <a:ext cx="45139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8645723" y="6557963"/>
            <a:ext cx="1474887" cy="428625"/>
          </a:xfrm>
          <a:prstGeom prst="roundRect">
            <a:avLst>
              <a:gd name="adj" fmla="val 17778"/>
            </a:avLst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8826698" y="6653213"/>
            <a:ext cx="118913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5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28700" y="990600"/>
            <a:ext cx="159517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100" b="1" dirty="0">
                <a:solidFill>
                  <a:srgbClr val="141414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Prompt Engineering</a:t>
            </a:r>
            <a:endParaRPr lang="en-US" sz="5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637508" y="95326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65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E2877A2-1493-693A-0899-D2C6705FD57F}"/>
              </a:ext>
            </a:extLst>
          </p:cNvPr>
          <p:cNvSpPr txBox="1"/>
          <p:nvPr/>
        </p:nvSpPr>
        <p:spPr>
          <a:xfrm>
            <a:off x="964693" y="3900310"/>
            <a:ext cx="1815200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100" dirty="0">
                <a:solidFill>
                  <a:srgbClr val="C00000"/>
                </a:solidFill>
              </a:rPr>
              <a:t>"</a:t>
            </a:r>
            <a:r>
              <a:rPr lang="de-DE" sz="2100" dirty="0" err="1">
                <a:solidFill>
                  <a:srgbClr val="C00000"/>
                </a:solidFill>
              </a:rPr>
              <a:t>You</a:t>
            </a:r>
            <a:r>
              <a:rPr lang="de-DE" sz="2100" dirty="0">
                <a:solidFill>
                  <a:srgbClr val="C00000"/>
                </a:solidFill>
              </a:rPr>
              <a:t> </a:t>
            </a:r>
            <a:r>
              <a:rPr lang="de-DE" sz="2100" dirty="0" err="1">
                <a:solidFill>
                  <a:srgbClr val="C00000"/>
                </a:solidFill>
              </a:rPr>
              <a:t>are</a:t>
            </a:r>
            <a:r>
              <a:rPr lang="de-DE" sz="2100" dirty="0">
                <a:solidFill>
                  <a:srgbClr val="C00000"/>
                </a:solidFill>
              </a:rPr>
              <a:t> an expert </a:t>
            </a:r>
            <a:r>
              <a:rPr lang="de-DE" sz="2100" dirty="0" err="1">
                <a:solidFill>
                  <a:srgbClr val="C00000"/>
                </a:solidFill>
              </a:rPr>
              <a:t>content</a:t>
            </a:r>
            <a:r>
              <a:rPr lang="de-DE" sz="2100" dirty="0">
                <a:solidFill>
                  <a:srgbClr val="C00000"/>
                </a:solidFill>
              </a:rPr>
              <a:t>-moderation </a:t>
            </a:r>
            <a:r>
              <a:rPr lang="de-DE" sz="2100" dirty="0" err="1">
                <a:solidFill>
                  <a:srgbClr val="C00000"/>
                </a:solidFill>
              </a:rPr>
              <a:t>analyst</a:t>
            </a:r>
            <a:r>
              <a:rPr lang="de-DE" sz="2100" dirty="0">
                <a:solidFill>
                  <a:srgbClr val="C00000"/>
                </a:solidFill>
              </a:rPr>
              <a:t> </a:t>
            </a:r>
            <a:r>
              <a:rPr lang="de-DE" sz="2100" dirty="0" err="1">
                <a:solidFill>
                  <a:srgbClr val="C00000"/>
                </a:solidFill>
              </a:rPr>
              <a:t>specializing</a:t>
            </a:r>
            <a:r>
              <a:rPr lang="de-DE" sz="2100" dirty="0">
                <a:solidFill>
                  <a:srgbClr val="C00000"/>
                </a:solidFill>
              </a:rPr>
              <a:t> in multimodal hate-</a:t>
            </a:r>
            <a:r>
              <a:rPr lang="de-DE" sz="2100" dirty="0" err="1">
                <a:solidFill>
                  <a:srgbClr val="C00000"/>
                </a:solidFill>
              </a:rPr>
              <a:t>speech</a:t>
            </a:r>
            <a:r>
              <a:rPr lang="de-DE" sz="2100" dirty="0">
                <a:solidFill>
                  <a:srgbClr val="C00000"/>
                </a:solidFill>
              </a:rPr>
              <a:t> </a:t>
            </a:r>
            <a:r>
              <a:rPr lang="de-DE" sz="2100" dirty="0" err="1">
                <a:solidFill>
                  <a:srgbClr val="C00000"/>
                </a:solidFill>
              </a:rPr>
              <a:t>detection</a:t>
            </a:r>
            <a:r>
              <a:rPr lang="de-DE" sz="2100" dirty="0">
                <a:solidFill>
                  <a:srgbClr val="C00000"/>
                </a:solidFill>
              </a:rPr>
              <a:t>.</a:t>
            </a:r>
          </a:p>
          <a:p>
            <a:endParaRPr lang="de-DE" sz="2100" dirty="0"/>
          </a:p>
          <a:p>
            <a:r>
              <a:rPr lang="de-DE" sz="2100" dirty="0" err="1">
                <a:solidFill>
                  <a:srgbClr val="FFC000"/>
                </a:solidFill>
              </a:rPr>
              <a:t>You</a:t>
            </a:r>
            <a:r>
              <a:rPr lang="de-DE" sz="2100" dirty="0">
                <a:solidFill>
                  <a:srgbClr val="FFC000"/>
                </a:solidFill>
              </a:rPr>
              <a:t> </a:t>
            </a:r>
            <a:r>
              <a:rPr lang="de-DE" sz="2100" dirty="0" err="1">
                <a:solidFill>
                  <a:srgbClr val="FFC000"/>
                </a:solidFill>
              </a:rPr>
              <a:t>are</a:t>
            </a:r>
            <a:r>
              <a:rPr lang="de-DE" sz="2100" dirty="0">
                <a:solidFill>
                  <a:srgbClr val="FFC000"/>
                </a:solidFill>
              </a:rPr>
              <a:t> </a:t>
            </a:r>
            <a:r>
              <a:rPr lang="de-DE" sz="2100" dirty="0" err="1">
                <a:solidFill>
                  <a:srgbClr val="FFC000"/>
                </a:solidFill>
              </a:rPr>
              <a:t>given</a:t>
            </a:r>
            <a:r>
              <a:rPr lang="de-DE" sz="2100" dirty="0">
                <a:solidFill>
                  <a:srgbClr val="FFC000"/>
                </a:solidFill>
              </a:rPr>
              <a:t> the </a:t>
            </a:r>
            <a:r>
              <a:rPr lang="de-DE" sz="2100" dirty="0" err="1">
                <a:solidFill>
                  <a:srgbClr val="FFC000"/>
                </a:solidFill>
              </a:rPr>
              <a:t>text</a:t>
            </a:r>
            <a:r>
              <a:rPr lang="de-DE" sz="2100" dirty="0">
                <a:solidFill>
                  <a:srgbClr val="FFC000"/>
                </a:solidFill>
              </a:rPr>
              <a:t> </a:t>
            </a:r>
            <a:r>
              <a:rPr lang="de-DE" sz="2100" dirty="0" err="1">
                <a:solidFill>
                  <a:srgbClr val="FFC000"/>
                </a:solidFill>
              </a:rPr>
              <a:t>written</a:t>
            </a:r>
            <a:r>
              <a:rPr lang="de-DE" sz="2100" dirty="0">
                <a:solidFill>
                  <a:srgbClr val="FFC000"/>
                </a:solidFill>
              </a:rPr>
              <a:t> on a </a:t>
            </a:r>
            <a:r>
              <a:rPr lang="de-DE" sz="2100" dirty="0" err="1">
                <a:solidFill>
                  <a:srgbClr val="FFC000"/>
                </a:solidFill>
              </a:rPr>
              <a:t>meme</a:t>
            </a:r>
            <a:r>
              <a:rPr lang="de-DE" sz="2100" dirty="0">
                <a:solidFill>
                  <a:srgbClr val="FFC000"/>
                </a:solidFill>
              </a:rPr>
              <a:t> and a </a:t>
            </a:r>
            <a:r>
              <a:rPr lang="de-DE" sz="2100" dirty="0" err="1">
                <a:solidFill>
                  <a:srgbClr val="FFC000"/>
                </a:solidFill>
              </a:rPr>
              <a:t>description</a:t>
            </a:r>
            <a:r>
              <a:rPr lang="de-DE" sz="2100" dirty="0">
                <a:solidFill>
                  <a:srgbClr val="FFC000"/>
                </a:solidFill>
              </a:rPr>
              <a:t> </a:t>
            </a:r>
            <a:r>
              <a:rPr lang="de-DE" sz="2100" dirty="0" err="1">
                <a:solidFill>
                  <a:srgbClr val="FFC000"/>
                </a:solidFill>
              </a:rPr>
              <a:t>of</a:t>
            </a:r>
            <a:r>
              <a:rPr lang="de-DE" sz="2100" dirty="0">
                <a:solidFill>
                  <a:srgbClr val="FFC000"/>
                </a:solidFill>
              </a:rPr>
              <a:t> the </a:t>
            </a:r>
            <a:r>
              <a:rPr lang="de-DE" sz="2100" dirty="0" err="1">
                <a:solidFill>
                  <a:srgbClr val="FFC000"/>
                </a:solidFill>
              </a:rPr>
              <a:t>meme's</a:t>
            </a:r>
            <a:r>
              <a:rPr lang="de-DE" sz="2100" dirty="0">
                <a:solidFill>
                  <a:srgbClr val="FFC000"/>
                </a:solidFill>
              </a:rPr>
              <a:t> </a:t>
            </a:r>
            <a:r>
              <a:rPr lang="de-DE" sz="2100" dirty="0" err="1">
                <a:solidFill>
                  <a:srgbClr val="FFC000"/>
                </a:solidFill>
              </a:rPr>
              <a:t>image</a:t>
            </a:r>
            <a:r>
              <a:rPr lang="de-DE" sz="2100" dirty="0">
                <a:solidFill>
                  <a:srgbClr val="FFC000"/>
                </a:solidFill>
              </a:rPr>
              <a:t>. </a:t>
            </a:r>
            <a:r>
              <a:rPr lang="de-DE" sz="2100" dirty="0" err="1">
                <a:solidFill>
                  <a:srgbClr val="FFC000"/>
                </a:solidFill>
              </a:rPr>
              <a:t>Decide</a:t>
            </a:r>
            <a:r>
              <a:rPr lang="de-DE" sz="2100" dirty="0">
                <a:solidFill>
                  <a:srgbClr val="FFC000"/>
                </a:solidFill>
              </a:rPr>
              <a:t> </a:t>
            </a:r>
            <a:r>
              <a:rPr lang="de-DE" sz="2100" dirty="0" err="1">
                <a:solidFill>
                  <a:srgbClr val="FFC000"/>
                </a:solidFill>
              </a:rPr>
              <a:t>whether</a:t>
            </a:r>
            <a:r>
              <a:rPr lang="de-DE" sz="2100" dirty="0">
                <a:solidFill>
                  <a:srgbClr val="FFC000"/>
                </a:solidFill>
              </a:rPr>
              <a:t> the </a:t>
            </a:r>
            <a:r>
              <a:rPr lang="de-DE" sz="2100" dirty="0" err="1">
                <a:solidFill>
                  <a:srgbClr val="FFC000"/>
                </a:solidFill>
              </a:rPr>
              <a:t>meme</a:t>
            </a:r>
            <a:r>
              <a:rPr lang="de-DE" sz="2100" dirty="0">
                <a:solidFill>
                  <a:srgbClr val="FFC000"/>
                </a:solidFill>
              </a:rPr>
              <a:t> </a:t>
            </a:r>
            <a:r>
              <a:rPr lang="de-DE" sz="2100" dirty="0" err="1">
                <a:solidFill>
                  <a:srgbClr val="FFC000"/>
                </a:solidFill>
              </a:rPr>
              <a:t>is</a:t>
            </a:r>
            <a:r>
              <a:rPr lang="de-DE" sz="2100" dirty="0">
                <a:solidFill>
                  <a:srgbClr val="FFC000"/>
                </a:solidFill>
              </a:rPr>
              <a:t> </a:t>
            </a:r>
            <a:r>
              <a:rPr lang="de-DE" sz="2100" dirty="0" err="1">
                <a:solidFill>
                  <a:srgbClr val="FFC000"/>
                </a:solidFill>
              </a:rPr>
              <a:t>hateful</a:t>
            </a:r>
            <a:r>
              <a:rPr lang="de-DE" sz="2100" dirty="0">
                <a:solidFill>
                  <a:srgbClr val="FFC000"/>
                </a:solidFill>
              </a:rPr>
              <a:t> </a:t>
            </a:r>
            <a:r>
              <a:rPr lang="de-DE" sz="2100" dirty="0" err="1">
                <a:solidFill>
                  <a:srgbClr val="FFC000"/>
                </a:solidFill>
              </a:rPr>
              <a:t>or</a:t>
            </a:r>
            <a:r>
              <a:rPr lang="de-DE" sz="2100" dirty="0">
                <a:solidFill>
                  <a:srgbClr val="FFC000"/>
                </a:solidFill>
              </a:rPr>
              <a:t> not.</a:t>
            </a:r>
          </a:p>
          <a:p>
            <a:endParaRPr lang="de-DE" sz="2100" dirty="0">
              <a:solidFill>
                <a:srgbClr val="FFC000"/>
              </a:solidFill>
            </a:endParaRPr>
          </a:p>
          <a:p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It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is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hatefull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if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it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attacks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demeans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people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based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a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protected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social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characteristic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via the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image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description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text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their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combination</a:t>
            </a:r>
            <a:r>
              <a:rPr lang="de-DE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de-DE" sz="2100" dirty="0"/>
          </a:p>
          <a:p>
            <a:r>
              <a:rPr lang="de-DE" sz="2100" dirty="0">
                <a:solidFill>
                  <a:srgbClr val="00B0F0"/>
                </a:solidFill>
              </a:rPr>
              <a:t>Use </a:t>
            </a:r>
            <a:r>
              <a:rPr lang="de-DE" sz="2100" dirty="0" err="1">
                <a:solidFill>
                  <a:srgbClr val="00B0F0"/>
                </a:solidFill>
              </a:rPr>
              <a:t>this</a:t>
            </a:r>
            <a:r>
              <a:rPr lang="de-DE" sz="2100" dirty="0">
                <a:solidFill>
                  <a:srgbClr val="00B0F0"/>
                </a:solidFill>
              </a:rPr>
              <a:t> </a:t>
            </a:r>
            <a:r>
              <a:rPr lang="de-DE" sz="2100" dirty="0" err="1">
                <a:solidFill>
                  <a:srgbClr val="00B0F0"/>
                </a:solidFill>
              </a:rPr>
              <a:t>framework</a:t>
            </a:r>
            <a:r>
              <a:rPr lang="de-DE" sz="2100" dirty="0">
                <a:solidFill>
                  <a:srgbClr val="00B0F0"/>
                </a:solidFill>
              </a:rPr>
              <a:t> </a:t>
            </a:r>
            <a:r>
              <a:rPr lang="de-DE" sz="2100" dirty="0" err="1">
                <a:solidFill>
                  <a:srgbClr val="00B0F0"/>
                </a:solidFill>
              </a:rPr>
              <a:t>while</a:t>
            </a:r>
            <a:r>
              <a:rPr lang="de-DE" sz="2100" dirty="0">
                <a:solidFill>
                  <a:srgbClr val="00B0F0"/>
                </a:solidFill>
              </a:rPr>
              <a:t> </a:t>
            </a:r>
            <a:r>
              <a:rPr lang="de-DE" sz="2100" dirty="0" err="1">
                <a:solidFill>
                  <a:srgbClr val="00B0F0"/>
                </a:solidFill>
              </a:rPr>
              <a:t>reasoning</a:t>
            </a:r>
            <a:r>
              <a:rPr lang="de-DE" sz="2100" dirty="0">
                <a:solidFill>
                  <a:srgbClr val="00B0F0"/>
                </a:solidFill>
              </a:rPr>
              <a:t>:</a:t>
            </a:r>
          </a:p>
          <a:p>
            <a:r>
              <a:rPr lang="de-DE" sz="2100" dirty="0">
                <a:solidFill>
                  <a:srgbClr val="00B0F0"/>
                </a:solidFill>
              </a:rPr>
              <a:t>• TARGET — </a:t>
            </a:r>
            <a:r>
              <a:rPr lang="de-DE" sz="2100" dirty="0" err="1">
                <a:solidFill>
                  <a:srgbClr val="00B0F0"/>
                </a:solidFill>
              </a:rPr>
              <a:t>race</a:t>
            </a:r>
            <a:r>
              <a:rPr lang="de-DE" sz="2100" dirty="0">
                <a:solidFill>
                  <a:srgbClr val="00B0F0"/>
                </a:solidFill>
              </a:rPr>
              <a:t>/</a:t>
            </a:r>
            <a:r>
              <a:rPr lang="de-DE" sz="2100" dirty="0" err="1">
                <a:solidFill>
                  <a:srgbClr val="00B0F0"/>
                </a:solidFill>
              </a:rPr>
              <a:t>ethnicity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nationality</a:t>
            </a:r>
            <a:r>
              <a:rPr lang="de-DE" sz="2100" dirty="0">
                <a:solidFill>
                  <a:srgbClr val="00B0F0"/>
                </a:solidFill>
              </a:rPr>
              <a:t>/</a:t>
            </a:r>
            <a:r>
              <a:rPr lang="de-DE" sz="2100" dirty="0" err="1">
                <a:solidFill>
                  <a:srgbClr val="00B0F0"/>
                </a:solidFill>
              </a:rPr>
              <a:t>region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religion</a:t>
            </a:r>
            <a:r>
              <a:rPr lang="de-DE" sz="2100" dirty="0">
                <a:solidFill>
                  <a:srgbClr val="00B0F0"/>
                </a:solidFill>
              </a:rPr>
              <a:t>/belief, </a:t>
            </a:r>
            <a:r>
              <a:rPr lang="de-DE" sz="2100" dirty="0" err="1">
                <a:solidFill>
                  <a:srgbClr val="00B0F0"/>
                </a:solidFill>
              </a:rPr>
              <a:t>gender</a:t>
            </a:r>
            <a:r>
              <a:rPr lang="de-DE" sz="2100" dirty="0">
                <a:solidFill>
                  <a:srgbClr val="00B0F0"/>
                </a:solidFill>
              </a:rPr>
              <a:t>/sexual </a:t>
            </a:r>
            <a:r>
              <a:rPr lang="de-DE" sz="2100" dirty="0" err="1">
                <a:solidFill>
                  <a:srgbClr val="00B0F0"/>
                </a:solidFill>
              </a:rPr>
              <a:t>orientation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disability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age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appearance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or</a:t>
            </a:r>
            <a:r>
              <a:rPr lang="de-DE" sz="2100" dirty="0">
                <a:solidFill>
                  <a:srgbClr val="00B0F0"/>
                </a:solidFill>
              </a:rPr>
              <a:t> </a:t>
            </a:r>
            <a:r>
              <a:rPr lang="de-DE" sz="2100" dirty="0" err="1">
                <a:solidFill>
                  <a:srgbClr val="00B0F0"/>
                </a:solidFill>
              </a:rPr>
              <a:t>socio-economic</a:t>
            </a:r>
            <a:r>
              <a:rPr lang="de-DE" sz="2100" dirty="0">
                <a:solidFill>
                  <a:srgbClr val="00B0F0"/>
                </a:solidFill>
              </a:rPr>
              <a:t> </a:t>
            </a:r>
            <a:r>
              <a:rPr lang="de-DE" sz="2100" dirty="0" err="1">
                <a:solidFill>
                  <a:srgbClr val="00B0F0"/>
                </a:solidFill>
              </a:rPr>
              <a:t>role</a:t>
            </a:r>
            <a:r>
              <a:rPr lang="de-DE" sz="2100" dirty="0">
                <a:solidFill>
                  <a:srgbClr val="00B0F0"/>
                </a:solidFill>
              </a:rPr>
              <a:t>.</a:t>
            </a:r>
          </a:p>
          <a:p>
            <a:r>
              <a:rPr lang="de-DE" sz="2100" dirty="0">
                <a:solidFill>
                  <a:srgbClr val="00B0F0"/>
                </a:solidFill>
              </a:rPr>
              <a:t>• INTENT — </a:t>
            </a:r>
            <a:r>
              <a:rPr lang="de-DE" sz="2100" dirty="0" err="1">
                <a:solidFill>
                  <a:srgbClr val="00B0F0"/>
                </a:solidFill>
              </a:rPr>
              <a:t>discrimination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humiliation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dehumanization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incitement</a:t>
            </a:r>
            <a:r>
              <a:rPr lang="de-DE" sz="2100" dirty="0">
                <a:solidFill>
                  <a:srgbClr val="00B0F0"/>
                </a:solidFill>
              </a:rPr>
              <a:t> </a:t>
            </a:r>
            <a:r>
              <a:rPr lang="de-DE" sz="2100" dirty="0" err="1">
                <a:solidFill>
                  <a:srgbClr val="00B0F0"/>
                </a:solidFill>
              </a:rPr>
              <a:t>to</a:t>
            </a:r>
            <a:r>
              <a:rPr lang="de-DE" sz="2100" dirty="0">
                <a:solidFill>
                  <a:srgbClr val="00B0F0"/>
                </a:solidFill>
              </a:rPr>
              <a:t> </a:t>
            </a:r>
            <a:r>
              <a:rPr lang="de-DE" sz="2100" dirty="0" err="1">
                <a:solidFill>
                  <a:srgbClr val="00B0F0"/>
                </a:solidFill>
              </a:rPr>
              <a:t>violence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stereotyping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propaganda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exclusion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or</a:t>
            </a:r>
            <a:r>
              <a:rPr lang="de-DE" sz="2100" dirty="0">
                <a:solidFill>
                  <a:srgbClr val="00B0F0"/>
                </a:solidFill>
              </a:rPr>
              <a:t> </a:t>
            </a:r>
            <a:r>
              <a:rPr lang="de-DE" sz="2100" dirty="0" err="1">
                <a:solidFill>
                  <a:srgbClr val="00B0F0"/>
                </a:solidFill>
              </a:rPr>
              <a:t>marginalization</a:t>
            </a:r>
            <a:r>
              <a:rPr lang="de-DE" sz="2100" dirty="0">
                <a:solidFill>
                  <a:srgbClr val="00B0F0"/>
                </a:solidFill>
              </a:rPr>
              <a:t>.</a:t>
            </a:r>
          </a:p>
          <a:p>
            <a:r>
              <a:rPr lang="de-DE" sz="2100" dirty="0">
                <a:solidFill>
                  <a:srgbClr val="00B0F0"/>
                </a:solidFill>
              </a:rPr>
              <a:t>• ACT/MEANS — </a:t>
            </a:r>
            <a:r>
              <a:rPr lang="de-DE" sz="2100" dirty="0" err="1">
                <a:solidFill>
                  <a:srgbClr val="00B0F0"/>
                </a:solidFill>
              </a:rPr>
              <a:t>insults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slurs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defamation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provocation</a:t>
            </a:r>
            <a:r>
              <a:rPr lang="de-DE" sz="2100" dirty="0">
                <a:solidFill>
                  <a:srgbClr val="00B0F0"/>
                </a:solidFill>
              </a:rPr>
              <a:t>, </a:t>
            </a:r>
            <a:r>
              <a:rPr lang="de-DE" sz="2100" dirty="0" err="1">
                <a:solidFill>
                  <a:srgbClr val="00B0F0"/>
                </a:solidFill>
              </a:rPr>
              <a:t>or</a:t>
            </a:r>
            <a:r>
              <a:rPr lang="de-DE" sz="2100" dirty="0">
                <a:solidFill>
                  <a:srgbClr val="00B0F0"/>
                </a:solidFill>
              </a:rPr>
              <a:t> </a:t>
            </a:r>
            <a:r>
              <a:rPr lang="de-DE" sz="2100" dirty="0" err="1">
                <a:solidFill>
                  <a:srgbClr val="00B0F0"/>
                </a:solidFill>
              </a:rPr>
              <a:t>depictions</a:t>
            </a:r>
            <a:r>
              <a:rPr lang="de-DE" sz="2100" dirty="0">
                <a:solidFill>
                  <a:srgbClr val="00B0F0"/>
                </a:solidFill>
              </a:rPr>
              <a:t> </a:t>
            </a:r>
            <a:r>
              <a:rPr lang="de-DE" sz="2100" dirty="0" err="1">
                <a:solidFill>
                  <a:srgbClr val="00B0F0"/>
                </a:solidFill>
              </a:rPr>
              <a:t>of</a:t>
            </a:r>
            <a:r>
              <a:rPr lang="de-DE" sz="2100" dirty="0">
                <a:solidFill>
                  <a:srgbClr val="00B0F0"/>
                </a:solidFill>
              </a:rPr>
              <a:t> </a:t>
            </a:r>
            <a:r>
              <a:rPr lang="de-DE" sz="2100" dirty="0" err="1">
                <a:solidFill>
                  <a:srgbClr val="00B0F0"/>
                </a:solidFill>
              </a:rPr>
              <a:t>violence</a:t>
            </a:r>
            <a:r>
              <a:rPr lang="de-DE" sz="2100" dirty="0">
                <a:solidFill>
                  <a:srgbClr val="00B0F0"/>
                </a:solidFill>
              </a:rPr>
              <a:t>/</a:t>
            </a:r>
            <a:r>
              <a:rPr lang="de-DE" sz="2100" dirty="0" err="1">
                <a:solidFill>
                  <a:srgbClr val="00B0F0"/>
                </a:solidFill>
              </a:rPr>
              <a:t>desecration</a:t>
            </a:r>
            <a:r>
              <a:rPr lang="de-DE" sz="2100" dirty="0">
                <a:solidFill>
                  <a:srgbClr val="00B0F0"/>
                </a:solidFill>
              </a:rPr>
              <a:t>.</a:t>
            </a:r>
          </a:p>
          <a:p>
            <a:endParaRPr lang="de-DE" sz="2100" dirty="0"/>
          </a:p>
          <a:p>
            <a:r>
              <a:rPr lang="de-DE" sz="2100" dirty="0">
                <a:solidFill>
                  <a:srgbClr val="7030A0"/>
                </a:solidFill>
              </a:rPr>
              <a:t>Think </a:t>
            </a:r>
            <a:r>
              <a:rPr lang="de-DE" sz="2100" dirty="0" err="1">
                <a:solidFill>
                  <a:srgbClr val="7030A0"/>
                </a:solidFill>
              </a:rPr>
              <a:t>step</a:t>
            </a:r>
            <a:r>
              <a:rPr lang="de-DE" sz="2100" dirty="0">
                <a:solidFill>
                  <a:srgbClr val="7030A0"/>
                </a:solidFill>
              </a:rPr>
              <a:t> </a:t>
            </a:r>
            <a:r>
              <a:rPr lang="de-DE" sz="2100" dirty="0" err="1">
                <a:solidFill>
                  <a:srgbClr val="7030A0"/>
                </a:solidFill>
              </a:rPr>
              <a:t>by</a:t>
            </a:r>
            <a:r>
              <a:rPr lang="de-DE" sz="2100" dirty="0">
                <a:solidFill>
                  <a:srgbClr val="7030A0"/>
                </a:solidFill>
              </a:rPr>
              <a:t> </a:t>
            </a:r>
            <a:r>
              <a:rPr lang="de-DE" sz="2100" dirty="0" err="1">
                <a:solidFill>
                  <a:srgbClr val="7030A0"/>
                </a:solidFill>
              </a:rPr>
              <a:t>step</a:t>
            </a:r>
            <a:r>
              <a:rPr lang="de-DE" sz="2100" dirty="0">
                <a:solidFill>
                  <a:srgbClr val="7030A0"/>
                </a:solidFill>
              </a:rPr>
              <a:t>. In </a:t>
            </a:r>
            <a:r>
              <a:rPr lang="de-DE" sz="2100" dirty="0" err="1">
                <a:solidFill>
                  <a:srgbClr val="7030A0"/>
                </a:solidFill>
              </a:rPr>
              <a:t>your</a:t>
            </a:r>
            <a:r>
              <a:rPr lang="de-DE" sz="2100" dirty="0">
                <a:solidFill>
                  <a:srgbClr val="7030A0"/>
                </a:solidFill>
              </a:rPr>
              <a:t> </a:t>
            </a:r>
            <a:r>
              <a:rPr lang="de-DE" sz="2100" dirty="0" err="1">
                <a:solidFill>
                  <a:srgbClr val="7030A0"/>
                </a:solidFill>
              </a:rPr>
              <a:t>reasoning</a:t>
            </a:r>
            <a:r>
              <a:rPr lang="de-DE" sz="2100" dirty="0">
                <a:solidFill>
                  <a:srgbClr val="7030A0"/>
                </a:solidFill>
              </a:rPr>
              <a:t>, </a:t>
            </a:r>
            <a:r>
              <a:rPr lang="de-DE" sz="2100" dirty="0" err="1">
                <a:solidFill>
                  <a:srgbClr val="7030A0"/>
                </a:solidFill>
              </a:rPr>
              <a:t>briefly</a:t>
            </a:r>
            <a:r>
              <a:rPr lang="de-DE" sz="2100" dirty="0">
                <a:solidFill>
                  <a:srgbClr val="7030A0"/>
                </a:solidFill>
              </a:rPr>
              <a:t>: (1) </a:t>
            </a:r>
            <a:r>
              <a:rPr lang="de-DE" sz="2100" dirty="0" err="1">
                <a:solidFill>
                  <a:srgbClr val="7030A0"/>
                </a:solidFill>
              </a:rPr>
              <a:t>note</a:t>
            </a:r>
            <a:r>
              <a:rPr lang="de-DE" sz="2100" dirty="0">
                <a:solidFill>
                  <a:srgbClr val="7030A0"/>
                </a:solidFill>
              </a:rPr>
              <a:t> </a:t>
            </a:r>
            <a:r>
              <a:rPr lang="de-DE" sz="2100" dirty="0" err="1">
                <a:solidFill>
                  <a:srgbClr val="7030A0"/>
                </a:solidFill>
              </a:rPr>
              <a:t>what</a:t>
            </a:r>
            <a:r>
              <a:rPr lang="de-DE" sz="2100" dirty="0">
                <a:solidFill>
                  <a:srgbClr val="7030A0"/>
                </a:solidFill>
              </a:rPr>
              <a:t> </a:t>
            </a:r>
            <a:r>
              <a:rPr lang="de-DE" sz="2100" dirty="0" err="1">
                <a:solidFill>
                  <a:srgbClr val="7030A0"/>
                </a:solidFill>
              </a:rPr>
              <a:t>image</a:t>
            </a:r>
            <a:r>
              <a:rPr lang="de-DE" sz="2100" dirty="0">
                <a:solidFill>
                  <a:srgbClr val="7030A0"/>
                </a:solidFill>
              </a:rPr>
              <a:t> and </a:t>
            </a:r>
            <a:r>
              <a:rPr lang="de-DE" sz="2100" dirty="0" err="1">
                <a:solidFill>
                  <a:srgbClr val="7030A0"/>
                </a:solidFill>
              </a:rPr>
              <a:t>text</a:t>
            </a:r>
            <a:r>
              <a:rPr lang="de-DE" sz="2100" dirty="0">
                <a:solidFill>
                  <a:srgbClr val="7030A0"/>
                </a:solidFill>
              </a:rPr>
              <a:t> </a:t>
            </a:r>
            <a:r>
              <a:rPr lang="de-DE" sz="2100" dirty="0" err="1">
                <a:solidFill>
                  <a:srgbClr val="7030A0"/>
                </a:solidFill>
              </a:rPr>
              <a:t>convey</a:t>
            </a:r>
            <a:r>
              <a:rPr lang="de-DE" sz="2100" dirty="0">
                <a:solidFill>
                  <a:srgbClr val="7030A0"/>
                </a:solidFill>
              </a:rPr>
              <a:t>; (2) </a:t>
            </a:r>
            <a:r>
              <a:rPr lang="de-DE" sz="2100" dirty="0" err="1">
                <a:solidFill>
                  <a:srgbClr val="7030A0"/>
                </a:solidFill>
              </a:rPr>
              <a:t>identify</a:t>
            </a:r>
            <a:r>
              <a:rPr lang="de-DE" sz="2100" dirty="0">
                <a:solidFill>
                  <a:srgbClr val="7030A0"/>
                </a:solidFill>
              </a:rPr>
              <a:t> </a:t>
            </a:r>
            <a:r>
              <a:rPr lang="de-DE" sz="2100" dirty="0" err="1">
                <a:solidFill>
                  <a:srgbClr val="7030A0"/>
                </a:solidFill>
              </a:rPr>
              <a:t>any</a:t>
            </a:r>
            <a:r>
              <a:rPr lang="de-DE" sz="2100" dirty="0">
                <a:solidFill>
                  <a:srgbClr val="7030A0"/>
                </a:solidFill>
              </a:rPr>
              <a:t> TARGET and on </a:t>
            </a:r>
            <a:r>
              <a:rPr lang="de-DE" sz="2100" dirty="0" err="1">
                <a:solidFill>
                  <a:srgbClr val="7030A0"/>
                </a:solidFill>
              </a:rPr>
              <a:t>what</a:t>
            </a:r>
            <a:r>
              <a:rPr lang="de-DE" sz="2100" dirty="0">
                <a:solidFill>
                  <a:srgbClr val="7030A0"/>
                </a:solidFill>
              </a:rPr>
              <a:t> </a:t>
            </a:r>
            <a:r>
              <a:rPr lang="de-DE" sz="2100" dirty="0" err="1">
                <a:solidFill>
                  <a:srgbClr val="7030A0"/>
                </a:solidFill>
              </a:rPr>
              <a:t>characteristic</a:t>
            </a:r>
            <a:r>
              <a:rPr lang="de-DE" sz="2100" dirty="0">
                <a:solidFill>
                  <a:srgbClr val="7030A0"/>
                </a:solidFill>
              </a:rPr>
              <a:t>; (3) </a:t>
            </a:r>
            <a:r>
              <a:rPr lang="de-DE" sz="2100" dirty="0" err="1">
                <a:solidFill>
                  <a:srgbClr val="7030A0"/>
                </a:solidFill>
              </a:rPr>
              <a:t>judge</a:t>
            </a:r>
            <a:r>
              <a:rPr lang="de-DE" sz="2100" dirty="0">
                <a:solidFill>
                  <a:srgbClr val="7030A0"/>
                </a:solidFill>
              </a:rPr>
              <a:t> INTENT and ACT/MEANS, </a:t>
            </a:r>
            <a:r>
              <a:rPr lang="de-DE" sz="2100" dirty="0" err="1">
                <a:solidFill>
                  <a:srgbClr val="7030A0"/>
                </a:solidFill>
              </a:rPr>
              <a:t>including</a:t>
            </a:r>
            <a:r>
              <a:rPr lang="de-DE" sz="2100" dirty="0">
                <a:solidFill>
                  <a:srgbClr val="7030A0"/>
                </a:solidFill>
              </a:rPr>
              <a:t> </a:t>
            </a:r>
            <a:r>
              <a:rPr lang="de-DE" sz="2100" dirty="0" err="1">
                <a:solidFill>
                  <a:srgbClr val="7030A0"/>
                </a:solidFill>
              </a:rPr>
              <a:t>how</a:t>
            </a:r>
            <a:r>
              <a:rPr lang="de-DE" sz="2100" dirty="0">
                <a:solidFill>
                  <a:srgbClr val="7030A0"/>
                </a:solidFill>
              </a:rPr>
              <a:t> </a:t>
            </a:r>
            <a:r>
              <a:rPr lang="de-DE" sz="2100" dirty="0" err="1">
                <a:solidFill>
                  <a:srgbClr val="7030A0"/>
                </a:solidFill>
              </a:rPr>
              <a:t>image</a:t>
            </a:r>
            <a:r>
              <a:rPr lang="de-DE" sz="2100" dirty="0">
                <a:solidFill>
                  <a:srgbClr val="7030A0"/>
                </a:solidFill>
              </a:rPr>
              <a:t> </a:t>
            </a:r>
            <a:r>
              <a:rPr lang="de-DE" sz="2100" dirty="0" err="1">
                <a:solidFill>
                  <a:srgbClr val="7030A0"/>
                </a:solidFill>
              </a:rPr>
              <a:t>description</a:t>
            </a:r>
            <a:r>
              <a:rPr lang="de-DE" sz="2100" dirty="0">
                <a:solidFill>
                  <a:srgbClr val="7030A0"/>
                </a:solidFill>
              </a:rPr>
              <a:t> and </a:t>
            </a:r>
            <a:r>
              <a:rPr lang="de-DE" sz="2100" dirty="0" err="1">
                <a:solidFill>
                  <a:srgbClr val="7030A0"/>
                </a:solidFill>
              </a:rPr>
              <a:t>text</a:t>
            </a:r>
            <a:r>
              <a:rPr lang="de-DE" sz="2100" dirty="0">
                <a:solidFill>
                  <a:srgbClr val="7030A0"/>
                </a:solidFill>
              </a:rPr>
              <a:t> </a:t>
            </a:r>
            <a:r>
              <a:rPr lang="de-DE" sz="2100" dirty="0" err="1">
                <a:solidFill>
                  <a:srgbClr val="7030A0"/>
                </a:solidFill>
              </a:rPr>
              <a:t>interact</a:t>
            </a:r>
            <a:r>
              <a:rPr lang="de-DE" sz="2100" dirty="0">
                <a:solidFill>
                  <a:srgbClr val="7030A0"/>
                </a:solidFill>
              </a:rPr>
              <a:t>; (4) </a:t>
            </a:r>
            <a:r>
              <a:rPr lang="de-DE" sz="2100" dirty="0" err="1">
                <a:solidFill>
                  <a:srgbClr val="7030A0"/>
                </a:solidFill>
              </a:rPr>
              <a:t>conclude</a:t>
            </a:r>
            <a:r>
              <a:rPr lang="de-DE" sz="2100" dirty="0">
                <a:solidFill>
                  <a:srgbClr val="7030A0"/>
                </a:solidFill>
              </a:rPr>
              <a:t>. Keep </a:t>
            </a:r>
            <a:r>
              <a:rPr lang="de-DE" sz="2100" dirty="0" err="1">
                <a:solidFill>
                  <a:srgbClr val="7030A0"/>
                </a:solidFill>
              </a:rPr>
              <a:t>it</a:t>
            </a:r>
            <a:r>
              <a:rPr lang="de-DE" sz="2100" dirty="0">
                <a:solidFill>
                  <a:srgbClr val="7030A0"/>
                </a:solidFill>
              </a:rPr>
              <a:t> </a:t>
            </a:r>
            <a:r>
              <a:rPr lang="de-DE" sz="2100" dirty="0" err="1">
                <a:solidFill>
                  <a:srgbClr val="7030A0"/>
                </a:solidFill>
              </a:rPr>
              <a:t>concise</a:t>
            </a:r>
            <a:r>
              <a:rPr lang="de-DE" sz="2100" dirty="0">
                <a:solidFill>
                  <a:srgbClr val="7030A0"/>
                </a:solidFill>
              </a:rPr>
              <a:t>.</a:t>
            </a:r>
          </a:p>
          <a:p>
            <a:endParaRPr lang="de-DE" sz="2100" dirty="0"/>
          </a:p>
          <a:p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Respond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only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with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a JSON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object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in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this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exact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format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:</a:t>
            </a:r>
          </a:p>
          <a:p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{""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reasoning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"": ""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your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brief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step-by-step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reasoning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here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"", ""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label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"": 0/1, ""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confidence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"": 0 - 100}</a:t>
            </a:r>
          </a:p>
          <a:p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label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must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be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0 (not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hateful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)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or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1 (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hateful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).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confidence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must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be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an integer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from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0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to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100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representing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the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probability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that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the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meme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is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de-DE" sz="2100" dirty="0" err="1">
                <a:solidFill>
                  <a:schemeClr val="accent4">
                    <a:lumMod val="75000"/>
                  </a:schemeClr>
                </a:solidFill>
              </a:rPr>
              <a:t>hateful</a:t>
            </a:r>
            <a:r>
              <a:rPr lang="de-DE" sz="2100" dirty="0">
                <a:solidFill>
                  <a:schemeClr val="accent4">
                    <a:lumMod val="75000"/>
                  </a:schemeClr>
                </a:solidFill>
              </a:rPr>
              <a:t>."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59CCD75-3CD2-6D43-B191-40F308CE2967}"/>
              </a:ext>
            </a:extLst>
          </p:cNvPr>
          <p:cNvSpPr txBox="1"/>
          <p:nvPr/>
        </p:nvSpPr>
        <p:spPr>
          <a:xfrm>
            <a:off x="964692" y="2796332"/>
            <a:ext cx="15394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noProof="1">
                <a:solidFill>
                  <a:srgbClr val="C00000"/>
                </a:solidFill>
              </a:rPr>
              <a:t>Role Prompting </a:t>
            </a:r>
            <a:r>
              <a:rPr lang="en-GB" sz="3600" noProof="1"/>
              <a:t>+ </a:t>
            </a:r>
            <a:r>
              <a:rPr lang="en-GB" sz="3600" noProof="1">
                <a:solidFill>
                  <a:srgbClr val="FFC000"/>
                </a:solidFill>
              </a:rPr>
              <a:t>Zero Shot </a:t>
            </a:r>
            <a:r>
              <a:rPr lang="en-GB" sz="3600" noProof="1"/>
              <a:t>+ </a:t>
            </a:r>
            <a:r>
              <a:rPr lang="en-GB" sz="3600" noProof="1">
                <a:solidFill>
                  <a:srgbClr val="92D050"/>
                </a:solidFill>
              </a:rPr>
              <a:t>Definition</a:t>
            </a:r>
            <a:r>
              <a:rPr lang="en-GB" sz="3600" noProof="1"/>
              <a:t> + </a:t>
            </a:r>
            <a:r>
              <a:rPr lang="en-GB" sz="3600" noProof="1">
                <a:solidFill>
                  <a:srgbClr val="00B0F0"/>
                </a:solidFill>
              </a:rPr>
              <a:t>Attribute Driven</a:t>
            </a:r>
            <a:r>
              <a:rPr lang="en-GB" sz="3600" noProof="1"/>
              <a:t> + </a:t>
            </a:r>
            <a:r>
              <a:rPr lang="en-GB" sz="3600" noProof="1">
                <a:solidFill>
                  <a:srgbClr val="7030A0"/>
                </a:solidFill>
              </a:rPr>
              <a:t>CoT</a:t>
            </a:r>
            <a:r>
              <a:rPr lang="en-GB" sz="3600" noProof="1"/>
              <a:t> + </a:t>
            </a:r>
            <a:r>
              <a:rPr lang="en-GB" sz="3600" noProof="1">
                <a:solidFill>
                  <a:schemeClr val="accent4">
                    <a:lumMod val="75000"/>
                  </a:schemeClr>
                </a:solidFill>
              </a:rPr>
              <a:t>Constraints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632DCB01-7871-D13F-EE1A-83499501C1F8}"/>
              </a:ext>
            </a:extLst>
          </p:cNvPr>
          <p:cNvSpPr/>
          <p:nvPr/>
        </p:nvSpPr>
        <p:spPr>
          <a:xfrm>
            <a:off x="990600" y="990600"/>
            <a:ext cx="75913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Prompt Engineering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75913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FINE-TUNING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759137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 — Setup &amp; Methode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031593" y="1009650"/>
            <a:ext cx="3420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400300"/>
            <a:ext cx="685800" cy="28575"/>
          </a:xfrm>
          <a:prstGeom prst="roundRect">
            <a:avLst>
              <a:gd name="adj" fmla="val 50000"/>
            </a:avLst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90600" y="4105275"/>
            <a:ext cx="81233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39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Basismodell &amp; Methode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52550" y="4572000"/>
            <a:ext cx="776135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Phi-4-mini-instruct </a:t>
            </a:r>
            <a:r>
              <a:rPr lang="en-US" sz="20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(Microsoft), 3,8 Mrd. Parameter, instruction-tuned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52550" y="5467350"/>
            <a:ext cx="77613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QLoRA: </a:t>
            </a:r>
            <a:r>
              <a:rPr lang="en-US" sz="20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Basismodell in 4-Bit (NF4) quantisiert → spart VRAM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52550" y="6000750"/>
            <a:ext cx="776135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Trainierbare LoRA-Adapter statt voller Gewichte (r = 16, α = 16, Dropout = 0)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52550" y="6896100"/>
            <a:ext cx="776135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~0,5–1 % der Parameter werden trainiert; Basisgewichte eingefroren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410700" y="4105275"/>
            <a:ext cx="81233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39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Trainingsdaten &amp; Lauf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772650" y="4572000"/>
            <a:ext cx="77613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1.837 Beispiele: </a:t>
            </a:r>
            <a:r>
              <a:rPr lang="en-US" sz="20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 benign / 837 hateful (≈ ausgeglichen)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772650" y="5105400"/>
            <a:ext cx="77613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Bildbeschreibungen aus Phase 1 (qwen3-vl:4b)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772650" y="5638800"/>
            <a:ext cx="776135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4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Chat-Format mit 3 Rollen: system · user · assistant (JSON-Antwort)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772650" y="6755363"/>
            <a:ext cx="77613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RunPod</a:t>
            </a:r>
            <a:r>
              <a:rPr lang="en-US" sz="20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1× RTX 3090 — 2 Epochen, ~460 Steps, ~12 min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772650" y="7277100"/>
            <a:ext cx="77613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00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Trainingsloss: 1,6 → 0,30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66676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FINE-TUNING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666763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Ergebnis: Class Collapse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031593" y="1009650"/>
            <a:ext cx="3420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400300"/>
            <a:ext cx="685800" cy="28575"/>
          </a:xfrm>
          <a:prstGeom prst="roundRect">
            <a:avLst>
              <a:gd name="adj" fmla="val 50000"/>
            </a:avLst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90600" y="4181475"/>
            <a:ext cx="81233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9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passiert ist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52550" y="4648200"/>
            <a:ext cx="77613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0,455 </a:t>
            </a:r>
            <a:r>
              <a:rPr lang="en-US" sz="20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(ohne FT) → </a:t>
            </a:r>
            <a:r>
              <a:rPr lang="en-US" sz="20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0,282 </a:t>
            </a:r>
            <a:r>
              <a:rPr lang="en-US" sz="20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(mit FT); Recall 0,337 → 0,172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352550" y="5181600"/>
            <a:ext cx="77613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 defaultet auf </a:t>
            </a:r>
            <a:r>
              <a:rPr lang="en-US" sz="20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</a:t>
            </a:r>
            <a:r>
              <a:rPr lang="en-US" sz="20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bimodale Confidence (&lt;10 bzw. &gt;90)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352550" y="5715000"/>
            <a:ext cx="7761351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Ursache: uniforme, wenig diverse Trainingsantworten — das Modell lernte die </a:t>
            </a:r>
            <a:r>
              <a:rPr lang="en-US" sz="20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Ausgabeform statt der Entscheidungslogik </a:t>
            </a:r>
            <a:r>
              <a:rPr lang="en-US" sz="20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(Shortcut Learning)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410700" y="4181475"/>
            <a:ext cx="81233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9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1.000 Benign-Antworten, Wort für Wort identisch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410700" y="4648200"/>
            <a:ext cx="7886700" cy="1552575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9410700" y="4648200"/>
            <a:ext cx="38100" cy="1552575"/>
          </a:xfrm>
          <a:prstGeom prst="rect">
            <a:avLst/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753600" y="4895850"/>
            <a:ext cx="7475601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i="1" dirty="0">
                <a:solidFill>
                  <a:srgbClr val="333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„No attack on a protected group is present. The content does not dehumanize, stereotype, or incite hatred toward any individual or group. The meme is not hateful."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10700" y="6391275"/>
            <a:ext cx="8123301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die benign-Klasse existierte keine echte Begründungsquelle (HatReD deckt nur hateful ab) → ein einziges Template. Die Limitation war bereits im Code dokumentiert.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59713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METHODIK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597137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— kNN Few-Shot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031593" y="1009650"/>
            <a:ext cx="3420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400300"/>
            <a:ext cx="685800" cy="28575"/>
          </a:xfrm>
          <a:prstGeom prst="roundRect">
            <a:avLst>
              <a:gd name="adj" fmla="val 50000"/>
            </a:avLst>
          </a:prstGeom>
          <a:solidFill>
            <a:srgbClr val="2F5DC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90600" y="2676525"/>
            <a:ext cx="1648206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jedem Test-Meme werden die </a:t>
            </a:r>
            <a:r>
              <a:rPr lang="en-US" sz="2025" b="1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ähnlichsten gelabelten Trainingsbeispiele </a:t>
            </a:r>
            <a:r>
              <a:rPr lang="en-US" sz="20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Few-Shot-Beispiele in den Prompt injiziert — Kalibrierung über </a:t>
            </a:r>
            <a:r>
              <a:rPr lang="en-US" sz="2025" b="1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reale Präzedenzfälle </a:t>
            </a:r>
            <a:r>
              <a:rPr lang="en-US" sz="20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statt nur Definitionen.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90600" y="3629025"/>
            <a:ext cx="2066776" cy="857250"/>
          </a:xfrm>
          <a:prstGeom prst="roundRect">
            <a:avLst>
              <a:gd name="adj" fmla="val 15556"/>
            </a:avLst>
          </a:prstGeom>
          <a:ln w="1905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257300" y="3895725"/>
            <a:ext cx="15333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Test-Meme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285976" y="3871913"/>
            <a:ext cx="4000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3838426" y="3629025"/>
            <a:ext cx="4139952" cy="857250"/>
          </a:xfrm>
          <a:prstGeom prst="roundRect">
            <a:avLst>
              <a:gd name="adj" fmla="val 15556"/>
            </a:avLst>
          </a:prstGeom>
          <a:solidFill>
            <a:srgbClr val="EAF0FB"/>
          </a:solidFill>
          <a:ln w="19050">
            <a:solidFill>
              <a:srgbClr val="2F5DC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081127" y="3895725"/>
            <a:ext cx="36545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· k = 4 ähnlichste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06978" y="3871913"/>
            <a:ext cx="4000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8759428" y="3629025"/>
            <a:ext cx="2890540" cy="857250"/>
          </a:xfrm>
          <a:prstGeom prst="roundRect">
            <a:avLst>
              <a:gd name="adj" fmla="val 15556"/>
            </a:avLst>
          </a:prstGeom>
          <a:ln w="1905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9020870" y="3895725"/>
            <a:ext cx="236765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Few-Shot-Prompt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878568" y="3871913"/>
            <a:ext cx="4000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431018" y="3629025"/>
            <a:ext cx="1945332" cy="857250"/>
          </a:xfrm>
          <a:prstGeom prst="roundRect">
            <a:avLst>
              <a:gd name="adj" fmla="val 15556"/>
            </a:avLst>
          </a:prstGeom>
          <a:solidFill>
            <a:srgbClr val="EAF0FB"/>
          </a:solidFill>
          <a:ln w="19050">
            <a:solidFill>
              <a:srgbClr val="2F5DC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12697718" y="3895725"/>
            <a:ext cx="14119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Phi-4-mini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90600" y="4772025"/>
            <a:ext cx="80840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9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&amp; Wissensbasis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52550" y="5238750"/>
            <a:ext cx="772210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 balancierte </a:t>
            </a:r>
            <a:r>
              <a:rPr lang="en-US" sz="20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Memes (1.000 / 1.000), je Eintrag Bildbeschreibung + Meme-Text, Label als Metadatum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352550" y="6134100"/>
            <a:ext cx="772210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</a:t>
            </a:r>
            <a:r>
              <a:rPr lang="en-US" sz="20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all-MiniLM-L6-v2 </a:t>
            </a:r>
            <a:r>
              <a:rPr lang="en-US" sz="20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(384 dim), k = 4 · phi4-mini @ temp 0,1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352550" y="7029450"/>
            <a:ext cx="772210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Data Leakage: </a:t>
            </a:r>
            <a:r>
              <a:rPr lang="en-US" sz="2025" dirty="0">
                <a:solidFill>
                  <a:srgbClr val="262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 und Dev-IDs disjunkt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448800" y="4772025"/>
            <a:ext cx="80840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9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— Accuracy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453563" y="5243513"/>
            <a:ext cx="3167360" cy="504825"/>
          </a:xfrm>
          <a:prstGeom prst="rect">
            <a:avLst/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9596438" y="5376863"/>
            <a:ext cx="29766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ZS+RAG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2620923" y="5243513"/>
            <a:ext cx="1292572" cy="50482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12725698" y="5376863"/>
            <a:ext cx="108302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58,32%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13495" y="5243513"/>
            <a:ext cx="2086868" cy="504825"/>
          </a:xfrm>
          <a:prstGeom prst="rect">
            <a:avLst/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14056370" y="5376863"/>
            <a:ext cx="187731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ZS+RP+RAG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16000363" y="5243513"/>
            <a:ext cx="1292572" cy="50482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16105138" y="5376863"/>
            <a:ext cx="108302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62,20%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453563" y="5748338"/>
            <a:ext cx="3167360" cy="504825"/>
          </a:xfrm>
          <a:prstGeom prst="rect">
            <a:avLst/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9596438" y="5881687"/>
            <a:ext cx="29766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ZS+AD+RP+RAG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12620923" y="5748338"/>
            <a:ext cx="1292572" cy="50482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12725698" y="5881687"/>
            <a:ext cx="108302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60,12%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3913495" y="5748338"/>
            <a:ext cx="2086868" cy="504825"/>
          </a:xfrm>
          <a:prstGeom prst="rect">
            <a:avLst/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14056370" y="5881687"/>
            <a:ext cx="187731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ZS+CoT+RAG</a:t>
            </a:r>
            <a:endParaRPr lang="en-US" sz="1575" dirty="0"/>
          </a:p>
        </p:txBody>
      </p:sp>
      <p:sp>
        <p:nvSpPr>
          <p:cNvPr id="37" name="Shape 35"/>
          <p:cNvSpPr/>
          <p:nvPr/>
        </p:nvSpPr>
        <p:spPr>
          <a:xfrm>
            <a:off x="16000363" y="5748338"/>
            <a:ext cx="1292572" cy="50482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16105138" y="5881687"/>
            <a:ext cx="108302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62,25%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453563" y="6253163"/>
            <a:ext cx="3167360" cy="504825"/>
          </a:xfrm>
          <a:prstGeom prst="rect">
            <a:avLst/>
          </a:prstGeom>
          <a:solidFill>
            <a:srgbClr val="F4F6F9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9596438" y="6386513"/>
            <a:ext cx="29766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ZS+RP+AD+CoT+RAG</a:t>
            </a:r>
            <a:endParaRPr lang="en-US" sz="1575" dirty="0"/>
          </a:p>
        </p:txBody>
      </p:sp>
      <p:sp>
        <p:nvSpPr>
          <p:cNvPr id="41" name="Shape 39"/>
          <p:cNvSpPr/>
          <p:nvPr/>
        </p:nvSpPr>
        <p:spPr>
          <a:xfrm>
            <a:off x="12620923" y="6253163"/>
            <a:ext cx="1292572" cy="504825"/>
          </a:xfrm>
          <a:prstGeom prst="rect">
            <a:avLst/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12725698" y="6386513"/>
            <a:ext cx="108302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63,02%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3913495" y="6253163"/>
            <a:ext cx="2086868" cy="5048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16000363" y="6253163"/>
            <a:ext cx="1292572" cy="5048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9448800" y="6972300"/>
            <a:ext cx="7848600" cy="1009650"/>
          </a:xfrm>
          <a:prstGeom prst="rect">
            <a:avLst/>
          </a:prstGeom>
          <a:solidFill>
            <a:srgbClr val="FCEEE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9448800" y="6972300"/>
            <a:ext cx="38100" cy="1009650"/>
          </a:xfrm>
          <a:prstGeom prst="rect">
            <a:avLst/>
          </a:prstGeom>
          <a:solidFill>
            <a:srgbClr val="D040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9734550" y="7162800"/>
            <a:ext cx="755065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333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Durchweg unter dem besten Wert ohne RAG (64,8 %) </a:t>
            </a:r>
            <a:r>
              <a:rPr lang="en-US" sz="1725" dirty="0">
                <a:solidFill>
                  <a:srgbClr val="33383F"/>
                </a:solidFill>
                <a:highlight>
                  <a:srgbClr val="FCEEE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RAG bringt keinen Mehrwert und kann vernachlässigt werden.</a:t>
            </a:r>
            <a:endParaRPr lang="en-US" sz="17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771900"/>
            <a:ext cx="167960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4486275"/>
            <a:ext cx="16796004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0" b="1" kern="0" spc="-120" dirty="0" err="1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90600" y="5638800"/>
            <a:ext cx="1079182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Metriken im Vergleich: Phase-1-Beschreibungsstil (Zeilen) gegen Phase-2-Prompt-Variante (Spalten).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35465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ERGEBNISSE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354658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029658" y="1009650"/>
            <a:ext cx="3439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C152FD19-C88C-A2E9-BA38-E08A0A75D8DF}"/>
              </a:ext>
            </a:extLst>
          </p:cNvPr>
          <p:cNvGrpSpPr/>
          <p:nvPr/>
        </p:nvGrpSpPr>
        <p:grpSpPr>
          <a:xfrm>
            <a:off x="990600" y="2462759"/>
            <a:ext cx="16796004" cy="4710113"/>
            <a:chOff x="990600" y="3467100"/>
            <a:chExt cx="16796004" cy="4710113"/>
          </a:xfrm>
        </p:grpSpPr>
        <p:sp>
          <p:nvSpPr>
            <p:cNvPr id="5" name="Shape 3"/>
            <p:cNvSpPr/>
            <p:nvPr/>
          </p:nvSpPr>
          <p:spPr>
            <a:xfrm>
              <a:off x="995363" y="3467100"/>
              <a:ext cx="3850630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Text 4"/>
            <p:cNvSpPr/>
            <p:nvPr/>
          </p:nvSpPr>
          <p:spPr>
            <a:xfrm>
              <a:off x="1138238" y="3600450"/>
              <a:ext cx="368039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1 ↓ / Phase 2 →</a:t>
              </a:r>
              <a:endParaRPr lang="en-US" sz="1575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845993" y="3467100"/>
              <a:ext cx="1874639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4950768" y="3600450"/>
              <a:ext cx="166508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</a:t>
              </a:r>
              <a:endParaRPr lang="en-US" sz="1575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720632" y="3467100"/>
              <a:ext cx="1884313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 8"/>
            <p:cNvSpPr/>
            <p:nvPr/>
          </p:nvSpPr>
          <p:spPr>
            <a:xfrm>
              <a:off x="6825407" y="3600450"/>
              <a:ext cx="1674763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FS</a:t>
              </a:r>
              <a:endParaRPr lang="en-US" sz="1575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604945" y="3467100"/>
              <a:ext cx="1875086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 10"/>
            <p:cNvSpPr/>
            <p:nvPr/>
          </p:nvSpPr>
          <p:spPr>
            <a:xfrm>
              <a:off x="8709720" y="3600450"/>
              <a:ext cx="1665536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</a:t>
              </a:r>
              <a:endParaRPr lang="en-US" sz="1575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480030" y="3467100"/>
              <a:ext cx="1878360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Text 12"/>
            <p:cNvSpPr/>
            <p:nvPr/>
          </p:nvSpPr>
          <p:spPr>
            <a:xfrm>
              <a:off x="10584805" y="3600450"/>
              <a:ext cx="1668810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</a:t>
              </a:r>
              <a:endParaRPr lang="en-US" sz="1575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2358390" y="3467100"/>
              <a:ext cx="1857673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 14"/>
            <p:cNvSpPr/>
            <p:nvPr/>
          </p:nvSpPr>
          <p:spPr>
            <a:xfrm>
              <a:off x="12463165" y="3600450"/>
              <a:ext cx="1648123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ZS+CoT</a:t>
              </a:r>
              <a:endParaRPr lang="en-US" sz="1575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4216063" y="3467100"/>
              <a:ext cx="3077319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Text 16"/>
            <p:cNvSpPr/>
            <p:nvPr/>
          </p:nvSpPr>
          <p:spPr>
            <a:xfrm>
              <a:off x="14312778" y="3600450"/>
              <a:ext cx="288388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ZS+RP+AD+CoT</a:t>
              </a:r>
              <a:endParaRPr lang="en-US" sz="1575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95363" y="3962400"/>
              <a:ext cx="385063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Text 18"/>
            <p:cNvSpPr/>
            <p:nvPr/>
          </p:nvSpPr>
          <p:spPr>
            <a:xfrm>
              <a:off x="1138238" y="4095750"/>
              <a:ext cx="368039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</a:t>
              </a:r>
              <a:endParaRPr lang="en-US" sz="1575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845993" y="3962400"/>
              <a:ext cx="1874639" cy="523875"/>
            </a:xfrm>
            <a:prstGeom prst="rect">
              <a:avLst/>
            </a:prstGeom>
            <a:solidFill>
              <a:srgbClr val="EFC787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Text 20"/>
            <p:cNvSpPr/>
            <p:nvPr/>
          </p:nvSpPr>
          <p:spPr>
            <a:xfrm>
              <a:off x="4950768" y="4095750"/>
              <a:ext cx="16650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60,25%</a:t>
              </a:r>
              <a:endParaRPr lang="en-US" sz="1725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720632" y="3962400"/>
              <a:ext cx="1884313" cy="523875"/>
            </a:xfrm>
            <a:prstGeom prst="rect">
              <a:avLst/>
            </a:prstGeom>
            <a:solidFill>
              <a:srgbClr val="E9AF7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Text 22"/>
            <p:cNvSpPr/>
            <p:nvPr/>
          </p:nvSpPr>
          <p:spPr>
            <a:xfrm>
              <a:off x="6825407" y="4095750"/>
              <a:ext cx="16747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59,60%</a:t>
              </a:r>
              <a:endParaRPr lang="en-US" sz="1725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8604945" y="3962400"/>
              <a:ext cx="1875086" cy="523875"/>
            </a:xfrm>
            <a:prstGeom prst="rect">
              <a:avLst/>
            </a:prstGeom>
            <a:solidFill>
              <a:srgbClr val="EBB87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Text 24"/>
            <p:cNvSpPr/>
            <p:nvPr/>
          </p:nvSpPr>
          <p:spPr>
            <a:xfrm>
              <a:off x="8709720" y="4095750"/>
              <a:ext cx="166553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59,83%</a:t>
              </a:r>
              <a:endParaRPr lang="en-US" sz="1725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0480030" y="3962400"/>
              <a:ext cx="1878360" cy="523875"/>
            </a:xfrm>
            <a:prstGeom prst="rect">
              <a:avLst/>
            </a:prstGeom>
            <a:solidFill>
              <a:srgbClr val="ECBB8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Text 26"/>
            <p:cNvSpPr/>
            <p:nvPr/>
          </p:nvSpPr>
          <p:spPr>
            <a:xfrm>
              <a:off x="10584805" y="4095750"/>
              <a:ext cx="166881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59,92%</a:t>
              </a:r>
              <a:endParaRPr lang="en-US" sz="1725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12358390" y="3962400"/>
              <a:ext cx="1857673" cy="523875"/>
            </a:xfrm>
            <a:prstGeom prst="rect">
              <a:avLst/>
            </a:prstGeom>
            <a:solidFill>
              <a:srgbClr val="E1936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Text 28"/>
            <p:cNvSpPr/>
            <p:nvPr/>
          </p:nvSpPr>
          <p:spPr>
            <a:xfrm>
              <a:off x="12463165" y="4095750"/>
              <a:ext cx="16481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58,81%</a:t>
              </a:r>
              <a:endParaRPr lang="en-US" sz="1725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4216063" y="3962400"/>
              <a:ext cx="3077319" cy="523875"/>
            </a:xfrm>
            <a:prstGeom prst="rect">
              <a:avLst/>
            </a:prstGeom>
            <a:solidFill>
              <a:srgbClr val="DD8264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Text 30"/>
            <p:cNvSpPr/>
            <p:nvPr/>
          </p:nvSpPr>
          <p:spPr>
            <a:xfrm>
              <a:off x="14312778" y="4095750"/>
              <a:ext cx="28838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58,33%</a:t>
              </a:r>
              <a:endParaRPr lang="en-US" sz="1725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95363" y="4486275"/>
              <a:ext cx="385063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Text 32"/>
            <p:cNvSpPr/>
            <p:nvPr/>
          </p:nvSpPr>
          <p:spPr>
            <a:xfrm>
              <a:off x="1138238" y="4619625"/>
              <a:ext cx="368039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</a:t>
              </a:r>
              <a:endParaRPr lang="en-US" sz="1575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845993" y="4486275"/>
              <a:ext cx="1874639" cy="523875"/>
            </a:xfrm>
            <a:prstGeom prst="rect">
              <a:avLst/>
            </a:prstGeom>
            <a:solidFill>
              <a:srgbClr val="EBB67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Text 34"/>
            <p:cNvSpPr/>
            <p:nvPr/>
          </p:nvSpPr>
          <p:spPr>
            <a:xfrm>
              <a:off x="4950768" y="4619625"/>
              <a:ext cx="16650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59,79%</a:t>
              </a:r>
              <a:endParaRPr lang="en-US" sz="1725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6720632" y="4486275"/>
              <a:ext cx="1884313" cy="523875"/>
            </a:xfrm>
            <a:prstGeom prst="rect">
              <a:avLst/>
            </a:prstGeom>
            <a:solidFill>
              <a:srgbClr val="D35E5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Text 36"/>
            <p:cNvSpPr/>
            <p:nvPr/>
          </p:nvSpPr>
          <p:spPr>
            <a:xfrm>
              <a:off x="6825407" y="4619625"/>
              <a:ext cx="16747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57,34%</a:t>
              </a:r>
              <a:endParaRPr lang="en-US" sz="1725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8604945" y="4486275"/>
              <a:ext cx="1875086" cy="523875"/>
            </a:xfrm>
            <a:prstGeom prst="rect">
              <a:avLst/>
            </a:prstGeom>
            <a:solidFill>
              <a:srgbClr val="E8AC7A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Text 38"/>
            <p:cNvSpPr/>
            <p:nvPr/>
          </p:nvSpPr>
          <p:spPr>
            <a:xfrm>
              <a:off x="8709720" y="4619625"/>
              <a:ext cx="166553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59,52%</a:t>
              </a:r>
              <a:endParaRPr lang="en-US" sz="1725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10480030" y="4486275"/>
              <a:ext cx="1878360" cy="523875"/>
            </a:xfrm>
            <a:prstGeom prst="rect">
              <a:avLst/>
            </a:prstGeom>
            <a:solidFill>
              <a:srgbClr val="EBB98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Text 40"/>
            <p:cNvSpPr/>
            <p:nvPr/>
          </p:nvSpPr>
          <p:spPr>
            <a:xfrm>
              <a:off x="10584805" y="4619625"/>
              <a:ext cx="166881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59,87%</a:t>
              </a:r>
              <a:endParaRPr lang="en-US" sz="1725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12358390" y="4486275"/>
              <a:ext cx="1857673" cy="523875"/>
            </a:xfrm>
            <a:prstGeom prst="rect">
              <a:avLst/>
            </a:prstGeom>
            <a:solidFill>
              <a:srgbClr val="F0CB8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Text 42"/>
            <p:cNvSpPr/>
            <p:nvPr/>
          </p:nvSpPr>
          <p:spPr>
            <a:xfrm>
              <a:off x="12463165" y="4619625"/>
              <a:ext cx="16481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60,37%</a:t>
              </a:r>
              <a:endParaRPr lang="en-US" sz="1725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14216063" y="4486275"/>
              <a:ext cx="3077319" cy="523875"/>
            </a:xfrm>
            <a:prstGeom prst="rect">
              <a:avLst/>
            </a:prstGeom>
            <a:solidFill>
              <a:srgbClr val="E5A174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Text 44"/>
            <p:cNvSpPr/>
            <p:nvPr/>
          </p:nvSpPr>
          <p:spPr>
            <a:xfrm>
              <a:off x="14312778" y="4619625"/>
              <a:ext cx="28838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59,19%</a:t>
              </a:r>
              <a:endParaRPr lang="en-US" sz="1725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995363" y="5010150"/>
              <a:ext cx="385063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Text 46"/>
            <p:cNvSpPr/>
            <p:nvPr/>
          </p:nvSpPr>
          <p:spPr>
            <a:xfrm>
              <a:off x="1138238" y="5143500"/>
              <a:ext cx="368039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</a:t>
              </a:r>
              <a:endParaRPr lang="en-US" sz="1575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4845993" y="5010150"/>
              <a:ext cx="1874639" cy="523875"/>
            </a:xfrm>
            <a:prstGeom prst="rect">
              <a:avLst/>
            </a:prstGeom>
            <a:solidFill>
              <a:srgbClr val="5DB07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Text 48"/>
            <p:cNvSpPr/>
            <p:nvPr/>
          </p:nvSpPr>
          <p:spPr>
            <a:xfrm>
              <a:off x="4950768" y="5143500"/>
              <a:ext cx="16650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64,59%</a:t>
              </a:r>
              <a:endParaRPr lang="en-US" sz="1725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720632" y="5010150"/>
              <a:ext cx="1884313" cy="523875"/>
            </a:xfrm>
            <a:prstGeom prst="rect">
              <a:avLst/>
            </a:prstGeom>
            <a:solidFill>
              <a:srgbClr val="63B28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Text 50"/>
            <p:cNvSpPr/>
            <p:nvPr/>
          </p:nvSpPr>
          <p:spPr>
            <a:xfrm>
              <a:off x="6825407" y="5143500"/>
              <a:ext cx="16747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64,44%</a:t>
              </a:r>
              <a:endParaRPr lang="en-US" sz="1725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8604945" y="5010150"/>
              <a:ext cx="1875086" cy="523875"/>
            </a:xfrm>
            <a:prstGeom prst="rect">
              <a:avLst/>
            </a:prstGeom>
            <a:solidFill>
              <a:srgbClr val="6BB58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Text 52"/>
            <p:cNvSpPr/>
            <p:nvPr/>
          </p:nvSpPr>
          <p:spPr>
            <a:xfrm>
              <a:off x="8709720" y="5143500"/>
              <a:ext cx="166553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64,26%</a:t>
              </a:r>
              <a:endParaRPr lang="en-US" sz="1725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10480030" y="5010150"/>
              <a:ext cx="1878360" cy="523875"/>
            </a:xfrm>
            <a:prstGeom prst="rect">
              <a:avLst/>
            </a:prstGeom>
            <a:solidFill>
              <a:srgbClr val="5AAF7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Text 54"/>
            <p:cNvSpPr/>
            <p:nvPr/>
          </p:nvSpPr>
          <p:spPr>
            <a:xfrm>
              <a:off x="10584805" y="5143500"/>
              <a:ext cx="166881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64,65%</a:t>
              </a:r>
              <a:endParaRPr lang="en-US" sz="1725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12358390" y="5010150"/>
              <a:ext cx="1857673" cy="523875"/>
            </a:xfrm>
            <a:prstGeom prst="rect">
              <a:avLst/>
            </a:prstGeom>
            <a:solidFill>
              <a:srgbClr val="5EB07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Text 56"/>
            <p:cNvSpPr/>
            <p:nvPr/>
          </p:nvSpPr>
          <p:spPr>
            <a:xfrm>
              <a:off x="12463165" y="5143500"/>
              <a:ext cx="16481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64,57%</a:t>
              </a:r>
              <a:endParaRPr lang="en-US" sz="1725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14216063" y="5010150"/>
              <a:ext cx="3077319" cy="523875"/>
            </a:xfrm>
            <a:prstGeom prst="rect">
              <a:avLst/>
            </a:prstGeom>
            <a:solidFill>
              <a:srgbClr val="6DB58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Text 58"/>
            <p:cNvSpPr/>
            <p:nvPr/>
          </p:nvSpPr>
          <p:spPr>
            <a:xfrm>
              <a:off x="14312778" y="5143500"/>
              <a:ext cx="28838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64,23%</a:t>
              </a:r>
              <a:endParaRPr lang="en-US" sz="1725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995363" y="5534025"/>
              <a:ext cx="385063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Text 60"/>
            <p:cNvSpPr/>
            <p:nvPr/>
          </p:nvSpPr>
          <p:spPr>
            <a:xfrm>
              <a:off x="1138238" y="5667375"/>
              <a:ext cx="368039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ZS+AD(min)</a:t>
              </a:r>
              <a:endParaRPr lang="en-US" sz="1575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4845993" y="5534025"/>
              <a:ext cx="1874639" cy="5238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Text 62"/>
            <p:cNvSpPr/>
            <p:nvPr/>
          </p:nvSpPr>
          <p:spPr>
            <a:xfrm>
              <a:off x="4950768" y="5667375"/>
              <a:ext cx="16650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C7CCD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725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6720632" y="5534025"/>
              <a:ext cx="1884313" cy="523875"/>
            </a:xfrm>
            <a:prstGeom prst="rect">
              <a:avLst/>
            </a:prstGeom>
            <a:solidFill>
              <a:srgbClr val="68B48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" name="Text 64"/>
            <p:cNvSpPr/>
            <p:nvPr/>
          </p:nvSpPr>
          <p:spPr>
            <a:xfrm>
              <a:off x="6825407" y="5667375"/>
              <a:ext cx="16747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64,33%</a:t>
              </a:r>
              <a:endParaRPr lang="en-US" sz="1725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8604945" y="5534025"/>
              <a:ext cx="1875086" cy="523875"/>
            </a:xfrm>
            <a:prstGeom prst="rect">
              <a:avLst/>
            </a:prstGeom>
            <a:solidFill>
              <a:srgbClr val="BFD18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" name="Text 66"/>
            <p:cNvSpPr/>
            <p:nvPr/>
          </p:nvSpPr>
          <p:spPr>
            <a:xfrm>
              <a:off x="8709720" y="5667375"/>
              <a:ext cx="166553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62,35%</a:t>
              </a:r>
              <a:endParaRPr lang="en-US" sz="1725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10480030" y="5534025"/>
              <a:ext cx="1878360" cy="523875"/>
            </a:xfrm>
            <a:prstGeom prst="rect">
              <a:avLst/>
            </a:prstGeom>
            <a:solidFill>
              <a:srgbClr val="62B28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" name="Text 68"/>
            <p:cNvSpPr/>
            <p:nvPr/>
          </p:nvSpPr>
          <p:spPr>
            <a:xfrm>
              <a:off x="10584805" y="5667375"/>
              <a:ext cx="166881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64,48%</a:t>
              </a:r>
              <a:endParaRPr lang="en-US" sz="1725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12358390" y="5534025"/>
              <a:ext cx="1857673" cy="523875"/>
            </a:xfrm>
            <a:prstGeom prst="rect">
              <a:avLst/>
            </a:prstGeom>
            <a:solidFill>
              <a:srgbClr val="8CC086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" name="Text 70"/>
            <p:cNvSpPr/>
            <p:nvPr/>
          </p:nvSpPr>
          <p:spPr>
            <a:xfrm>
              <a:off x="12463165" y="5667375"/>
              <a:ext cx="16481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63,52%</a:t>
              </a:r>
              <a:endParaRPr lang="en-US" sz="1725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14216063" y="5534025"/>
              <a:ext cx="3077319" cy="523875"/>
            </a:xfrm>
            <a:prstGeom prst="rect">
              <a:avLst/>
            </a:prstGeom>
            <a:solidFill>
              <a:srgbClr val="54AD7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" name="Text 72"/>
            <p:cNvSpPr/>
            <p:nvPr/>
          </p:nvSpPr>
          <p:spPr>
            <a:xfrm>
              <a:off x="14312778" y="5667375"/>
              <a:ext cx="28838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64,79%</a:t>
              </a:r>
              <a:endParaRPr lang="en-US" sz="1725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995363" y="6057900"/>
              <a:ext cx="385063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" name="Text 74"/>
            <p:cNvSpPr/>
            <p:nvPr/>
          </p:nvSpPr>
          <p:spPr>
            <a:xfrm>
              <a:off x="1138238" y="6191250"/>
              <a:ext cx="368039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FS</a:t>
              </a:r>
              <a:endParaRPr lang="en-US" sz="1575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4845993" y="6057900"/>
              <a:ext cx="1874639" cy="523875"/>
            </a:xfrm>
            <a:prstGeom prst="rect">
              <a:avLst/>
            </a:prstGeom>
            <a:solidFill>
              <a:srgbClr val="EFE19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" name="Text 76"/>
            <p:cNvSpPr/>
            <p:nvPr/>
          </p:nvSpPr>
          <p:spPr>
            <a:xfrm>
              <a:off x="4950768" y="6191250"/>
              <a:ext cx="16650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61,24%</a:t>
              </a:r>
              <a:endParaRPr lang="en-US" sz="1725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6720632" y="6057900"/>
              <a:ext cx="1884313" cy="523875"/>
            </a:xfrm>
            <a:prstGeom prst="rect">
              <a:avLst/>
            </a:prstGeom>
            <a:solidFill>
              <a:srgbClr val="DE8566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" name="Text 78"/>
            <p:cNvSpPr/>
            <p:nvPr/>
          </p:nvSpPr>
          <p:spPr>
            <a:xfrm>
              <a:off x="6825407" y="6191250"/>
              <a:ext cx="16747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58,43%</a:t>
              </a:r>
              <a:endParaRPr lang="en-US" sz="1725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8604945" y="6057900"/>
              <a:ext cx="1875086" cy="523875"/>
            </a:xfrm>
            <a:prstGeom prst="rect">
              <a:avLst/>
            </a:prstGeom>
            <a:solidFill>
              <a:srgbClr val="E8AB7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" name="Text 80"/>
            <p:cNvSpPr/>
            <p:nvPr/>
          </p:nvSpPr>
          <p:spPr>
            <a:xfrm>
              <a:off x="8709720" y="6191250"/>
              <a:ext cx="166553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59,48%</a:t>
              </a:r>
              <a:endParaRPr lang="en-US" sz="1725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10480030" y="6057900"/>
              <a:ext cx="1878360" cy="523875"/>
            </a:xfrm>
            <a:prstGeom prst="rect">
              <a:avLst/>
            </a:prstGeom>
            <a:solidFill>
              <a:srgbClr val="E49E7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" name="Text 82"/>
            <p:cNvSpPr/>
            <p:nvPr/>
          </p:nvSpPr>
          <p:spPr>
            <a:xfrm>
              <a:off x="10584805" y="6191250"/>
              <a:ext cx="166881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59,11%</a:t>
              </a:r>
              <a:endParaRPr lang="en-US" sz="1725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12358390" y="6057900"/>
              <a:ext cx="1857673" cy="523875"/>
            </a:xfrm>
            <a:prstGeom prst="rect">
              <a:avLst/>
            </a:prstGeom>
            <a:solidFill>
              <a:srgbClr val="E5A174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" name="Text 84"/>
            <p:cNvSpPr/>
            <p:nvPr/>
          </p:nvSpPr>
          <p:spPr>
            <a:xfrm>
              <a:off x="12463165" y="6191250"/>
              <a:ext cx="16481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59,19%</a:t>
              </a:r>
              <a:endParaRPr lang="en-US" sz="1725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14216063" y="6057900"/>
              <a:ext cx="3077319" cy="523875"/>
            </a:xfrm>
            <a:prstGeom prst="rect">
              <a:avLst/>
            </a:prstGeom>
            <a:solidFill>
              <a:srgbClr val="D35F5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" name="Text 86"/>
            <p:cNvSpPr/>
            <p:nvPr/>
          </p:nvSpPr>
          <p:spPr>
            <a:xfrm>
              <a:off x="14312778" y="6191250"/>
              <a:ext cx="28838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57,37%</a:t>
              </a:r>
              <a:endParaRPr lang="en-US" sz="1725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995363" y="6581775"/>
              <a:ext cx="385063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" name="Text 88"/>
            <p:cNvSpPr/>
            <p:nvPr/>
          </p:nvSpPr>
          <p:spPr>
            <a:xfrm>
              <a:off x="1138238" y="6715125"/>
              <a:ext cx="368039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</a:t>
              </a:r>
              <a:endParaRPr lang="en-US" sz="1575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4845993" y="6581775"/>
              <a:ext cx="1874639" cy="523875"/>
            </a:xfrm>
            <a:prstGeom prst="rect">
              <a:avLst/>
            </a:prstGeom>
            <a:solidFill>
              <a:srgbClr val="E9B17C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" name="Text 90"/>
            <p:cNvSpPr/>
            <p:nvPr/>
          </p:nvSpPr>
          <p:spPr>
            <a:xfrm>
              <a:off x="4950768" y="6715125"/>
              <a:ext cx="16650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59,64%</a:t>
              </a:r>
              <a:endParaRPr lang="en-US" sz="1725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6720632" y="6581775"/>
              <a:ext cx="1884313" cy="523875"/>
            </a:xfrm>
            <a:prstGeom prst="rect">
              <a:avLst/>
            </a:prstGeom>
            <a:solidFill>
              <a:srgbClr val="E49E7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" name="Text 92"/>
            <p:cNvSpPr/>
            <p:nvPr/>
          </p:nvSpPr>
          <p:spPr>
            <a:xfrm>
              <a:off x="6825407" y="6715125"/>
              <a:ext cx="16747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59,11%</a:t>
              </a:r>
              <a:endParaRPr lang="en-US" sz="1725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8604945" y="6581775"/>
              <a:ext cx="1875086" cy="523875"/>
            </a:xfrm>
            <a:prstGeom prst="rect">
              <a:avLst/>
            </a:prstGeom>
            <a:solidFill>
              <a:srgbClr val="E08F6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" name="Text 94"/>
            <p:cNvSpPr/>
            <p:nvPr/>
          </p:nvSpPr>
          <p:spPr>
            <a:xfrm>
              <a:off x="8709720" y="6715125"/>
              <a:ext cx="166553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58,70%</a:t>
              </a:r>
              <a:endParaRPr lang="en-US" sz="1725" dirty="0"/>
            </a:p>
          </p:txBody>
        </p:sp>
        <p:sp>
          <p:nvSpPr>
            <p:cNvPr id="97" name="Shape 95"/>
            <p:cNvSpPr/>
            <p:nvPr/>
          </p:nvSpPr>
          <p:spPr>
            <a:xfrm>
              <a:off x="10480030" y="6581775"/>
              <a:ext cx="1878360" cy="523875"/>
            </a:xfrm>
            <a:prstGeom prst="rect">
              <a:avLst/>
            </a:prstGeom>
            <a:solidFill>
              <a:srgbClr val="E2986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" name="Text 96"/>
            <p:cNvSpPr/>
            <p:nvPr/>
          </p:nvSpPr>
          <p:spPr>
            <a:xfrm>
              <a:off x="10584805" y="6715125"/>
              <a:ext cx="166881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58,94%</a:t>
              </a:r>
              <a:endParaRPr lang="en-US" sz="1725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12358390" y="6581775"/>
              <a:ext cx="1857673" cy="523875"/>
            </a:xfrm>
            <a:prstGeom prst="rect">
              <a:avLst/>
            </a:prstGeom>
            <a:solidFill>
              <a:srgbClr val="E2956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" name="Text 98"/>
            <p:cNvSpPr/>
            <p:nvPr/>
          </p:nvSpPr>
          <p:spPr>
            <a:xfrm>
              <a:off x="12463165" y="6715125"/>
              <a:ext cx="16481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58,87%</a:t>
              </a:r>
              <a:endParaRPr lang="en-US" sz="1725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14216063" y="6581775"/>
              <a:ext cx="3077319" cy="523875"/>
            </a:xfrm>
            <a:prstGeom prst="rect">
              <a:avLst/>
            </a:prstGeom>
            <a:solidFill>
              <a:srgbClr val="E1946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" name="Text 100"/>
            <p:cNvSpPr/>
            <p:nvPr/>
          </p:nvSpPr>
          <p:spPr>
            <a:xfrm>
              <a:off x="14312778" y="6715125"/>
              <a:ext cx="28838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58,84%</a:t>
              </a:r>
              <a:endParaRPr lang="en-US" sz="1725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995363" y="7105650"/>
              <a:ext cx="385063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" name="Text 102"/>
            <p:cNvSpPr/>
            <p:nvPr/>
          </p:nvSpPr>
          <p:spPr>
            <a:xfrm>
              <a:off x="1138238" y="7239000"/>
              <a:ext cx="368039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ZS+RP+AD(min)</a:t>
              </a:r>
              <a:endParaRPr lang="en-US" sz="1575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4845993" y="7105650"/>
              <a:ext cx="1874639" cy="523875"/>
            </a:xfrm>
            <a:prstGeom prst="rect">
              <a:avLst/>
            </a:prstGeom>
            <a:solidFill>
              <a:srgbClr val="85BE8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6" name="Text 104"/>
            <p:cNvSpPr/>
            <p:nvPr/>
          </p:nvSpPr>
          <p:spPr>
            <a:xfrm>
              <a:off x="4950768" y="7239000"/>
              <a:ext cx="16650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63,66%</a:t>
              </a:r>
              <a:endParaRPr lang="en-US" sz="1725" dirty="0"/>
            </a:p>
          </p:txBody>
        </p:sp>
        <p:sp>
          <p:nvSpPr>
            <p:cNvPr id="107" name="Shape 105"/>
            <p:cNvSpPr/>
            <p:nvPr/>
          </p:nvSpPr>
          <p:spPr>
            <a:xfrm>
              <a:off x="6720632" y="7105650"/>
              <a:ext cx="1884313" cy="523875"/>
            </a:xfrm>
            <a:prstGeom prst="rect">
              <a:avLst/>
            </a:prstGeom>
            <a:solidFill>
              <a:srgbClr val="B0CC8C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8" name="Text 106"/>
            <p:cNvSpPr/>
            <p:nvPr/>
          </p:nvSpPr>
          <p:spPr>
            <a:xfrm>
              <a:off x="6825407" y="7239000"/>
              <a:ext cx="16747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62,68%</a:t>
              </a:r>
              <a:endParaRPr lang="en-US" sz="1725" dirty="0"/>
            </a:p>
          </p:txBody>
        </p:sp>
        <p:sp>
          <p:nvSpPr>
            <p:cNvPr id="109" name="Shape 107"/>
            <p:cNvSpPr/>
            <p:nvPr/>
          </p:nvSpPr>
          <p:spPr>
            <a:xfrm>
              <a:off x="8604945" y="7105650"/>
              <a:ext cx="1875086" cy="523875"/>
            </a:xfrm>
            <a:prstGeom prst="rect">
              <a:avLst/>
            </a:prstGeom>
            <a:solidFill>
              <a:srgbClr val="A3C88A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0" name="Text 108"/>
            <p:cNvSpPr/>
            <p:nvPr/>
          </p:nvSpPr>
          <p:spPr>
            <a:xfrm>
              <a:off x="8709720" y="7239000"/>
              <a:ext cx="166553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62,98%</a:t>
              </a:r>
              <a:endParaRPr lang="en-US" sz="1725" dirty="0"/>
            </a:p>
          </p:txBody>
        </p:sp>
        <p:sp>
          <p:nvSpPr>
            <p:cNvPr id="111" name="Shape 109"/>
            <p:cNvSpPr/>
            <p:nvPr/>
          </p:nvSpPr>
          <p:spPr>
            <a:xfrm>
              <a:off x="10480030" y="7105650"/>
              <a:ext cx="1878360" cy="523875"/>
            </a:xfrm>
            <a:prstGeom prst="rect">
              <a:avLst/>
            </a:prstGeom>
            <a:solidFill>
              <a:srgbClr val="ACCB8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2" name="Text 110"/>
            <p:cNvSpPr/>
            <p:nvPr/>
          </p:nvSpPr>
          <p:spPr>
            <a:xfrm>
              <a:off x="10584805" y="7239000"/>
              <a:ext cx="166881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62,78%</a:t>
              </a:r>
              <a:endParaRPr lang="en-US" sz="1725" dirty="0"/>
            </a:p>
          </p:txBody>
        </p:sp>
        <p:sp>
          <p:nvSpPr>
            <p:cNvPr id="113" name="Shape 111"/>
            <p:cNvSpPr/>
            <p:nvPr/>
          </p:nvSpPr>
          <p:spPr>
            <a:xfrm>
              <a:off x="12358390" y="7105650"/>
              <a:ext cx="1857673" cy="523875"/>
            </a:xfrm>
            <a:prstGeom prst="rect">
              <a:avLst/>
            </a:prstGeom>
            <a:solidFill>
              <a:srgbClr val="C2D28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4" name="Text 112"/>
            <p:cNvSpPr/>
            <p:nvPr/>
          </p:nvSpPr>
          <p:spPr>
            <a:xfrm>
              <a:off x="12463165" y="7239000"/>
              <a:ext cx="16481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62,27%</a:t>
              </a:r>
              <a:endParaRPr lang="en-US" sz="1725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14216063" y="7105650"/>
              <a:ext cx="3077319" cy="523875"/>
            </a:xfrm>
            <a:prstGeom prst="rect">
              <a:avLst/>
            </a:prstGeom>
            <a:solidFill>
              <a:srgbClr val="F1CF8C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6" name="Text 114"/>
            <p:cNvSpPr/>
            <p:nvPr/>
          </p:nvSpPr>
          <p:spPr>
            <a:xfrm>
              <a:off x="14312778" y="7239000"/>
              <a:ext cx="28838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60,49%</a:t>
              </a:r>
              <a:endParaRPr lang="en-US" sz="1725" dirty="0"/>
            </a:p>
          </p:txBody>
        </p:sp>
        <p:sp>
          <p:nvSpPr>
            <p:cNvPr id="117" name="Text 115"/>
            <p:cNvSpPr/>
            <p:nvPr/>
          </p:nvSpPr>
          <p:spPr>
            <a:xfrm>
              <a:off x="990600" y="7843838"/>
              <a:ext cx="16796004" cy="3333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650" b="1" dirty="0">
                  <a:solidFill>
                    <a:srgbClr val="5B647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Accuracy. </a:t>
              </a:r>
              <a:r>
                <a:rPr lang="en-US" sz="1650" dirty="0">
                  <a:solidFill>
                    <a:srgbClr val="5B647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Wie oft das Modell insgesamt richtig liegt, über alle Memes hinweg. Rot = niedrig, Grün = hoch; bester Wert hervorgehoben.</a:t>
              </a:r>
              <a:endParaRPr lang="en-US" sz="1650" dirty="0"/>
            </a:p>
          </p:txBody>
        </p:sp>
      </p:grpSp>
      <p:sp>
        <p:nvSpPr>
          <p:cNvPr id="121" name="Textfeld 120">
            <a:extLst>
              <a:ext uri="{FF2B5EF4-FFF2-40B4-BE49-F238E27FC236}">
                <a16:creationId xmlns:a16="http://schemas.microsoft.com/office/drawing/2014/main" id="{8B8F32B4-1B36-FB55-5564-87A52D12EB77}"/>
              </a:ext>
            </a:extLst>
          </p:cNvPr>
          <p:cNvSpPr txBox="1"/>
          <p:nvPr/>
        </p:nvSpPr>
        <p:spPr>
          <a:xfrm>
            <a:off x="990600" y="7482837"/>
            <a:ext cx="171126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Liegt in einem engen Band von rund 57 bis 65%, reagiert kaum auf Prompts und ist hier das unsensibelste Maß</a:t>
            </a:r>
            <a:b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Beste Werte um 64,8% bei der ZS+AD Familie, schwache Stile bleiben bei rund 59%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35465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ERGEBNISSE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354658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 </a:t>
            </a:r>
            <a:r>
              <a:rPr lang="en-US" sz="1800" b="1" kern="0" spc="-67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Leitmetrik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029658" y="1009650"/>
            <a:ext cx="3439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1375788E-8BFC-90E0-5163-731E02AFBF98}"/>
              </a:ext>
            </a:extLst>
          </p:cNvPr>
          <p:cNvGrpSpPr/>
          <p:nvPr/>
        </p:nvGrpSpPr>
        <p:grpSpPr>
          <a:xfrm>
            <a:off x="990600" y="2507730"/>
            <a:ext cx="16796004" cy="4710113"/>
            <a:chOff x="990600" y="3467100"/>
            <a:chExt cx="16796004" cy="4710113"/>
          </a:xfrm>
        </p:grpSpPr>
        <p:sp>
          <p:nvSpPr>
            <p:cNvPr id="5" name="Shape 3"/>
            <p:cNvSpPr/>
            <p:nvPr/>
          </p:nvSpPr>
          <p:spPr>
            <a:xfrm>
              <a:off x="995363" y="3467100"/>
              <a:ext cx="3839766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Text 4"/>
            <p:cNvSpPr/>
            <p:nvPr/>
          </p:nvSpPr>
          <p:spPr>
            <a:xfrm>
              <a:off x="1138238" y="3600450"/>
              <a:ext cx="366920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1 ↓ / Phase 2 →</a:t>
              </a:r>
              <a:endParaRPr lang="en-US" sz="1575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835128" y="3467100"/>
              <a:ext cx="1880146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4939903" y="3600450"/>
              <a:ext cx="1670596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</a:t>
              </a:r>
              <a:endParaRPr lang="en-US" sz="1575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715274" y="3467100"/>
              <a:ext cx="1870472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 8"/>
            <p:cNvSpPr/>
            <p:nvPr/>
          </p:nvSpPr>
          <p:spPr>
            <a:xfrm>
              <a:off x="6820049" y="3600450"/>
              <a:ext cx="1660922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FS</a:t>
              </a:r>
              <a:endParaRPr lang="en-US" sz="1575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585746" y="3467100"/>
              <a:ext cx="1879699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 10"/>
            <p:cNvSpPr/>
            <p:nvPr/>
          </p:nvSpPr>
          <p:spPr>
            <a:xfrm>
              <a:off x="8690521" y="3600450"/>
              <a:ext cx="167014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</a:t>
              </a:r>
              <a:endParaRPr lang="en-US" sz="1575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465445" y="3467100"/>
              <a:ext cx="1879699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Text 12"/>
            <p:cNvSpPr/>
            <p:nvPr/>
          </p:nvSpPr>
          <p:spPr>
            <a:xfrm>
              <a:off x="10570220" y="3600450"/>
              <a:ext cx="167014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</a:t>
              </a:r>
              <a:endParaRPr lang="en-US" sz="1575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2345144" y="3467100"/>
              <a:ext cx="1879253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 14"/>
            <p:cNvSpPr/>
            <p:nvPr/>
          </p:nvSpPr>
          <p:spPr>
            <a:xfrm>
              <a:off x="12449919" y="3600450"/>
              <a:ext cx="1669703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ZS+CoT</a:t>
              </a:r>
              <a:endParaRPr lang="en-US" sz="1575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4224397" y="3467100"/>
              <a:ext cx="3068687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Text 16"/>
            <p:cNvSpPr/>
            <p:nvPr/>
          </p:nvSpPr>
          <p:spPr>
            <a:xfrm>
              <a:off x="14321242" y="3600450"/>
              <a:ext cx="2874998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ZS+RP+AD+CoT</a:t>
              </a:r>
              <a:endParaRPr lang="en-US" sz="1575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95363" y="3962400"/>
              <a:ext cx="383976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Text 18"/>
            <p:cNvSpPr/>
            <p:nvPr/>
          </p:nvSpPr>
          <p:spPr>
            <a:xfrm>
              <a:off x="1138238" y="4095750"/>
              <a:ext cx="366920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</a:t>
              </a:r>
              <a:endParaRPr lang="en-US" sz="1575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835128" y="3962400"/>
              <a:ext cx="1880146" cy="523875"/>
            </a:xfrm>
            <a:prstGeom prst="rect">
              <a:avLst/>
            </a:prstGeom>
            <a:solidFill>
              <a:srgbClr val="EAE094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Text 20"/>
            <p:cNvSpPr/>
            <p:nvPr/>
          </p:nvSpPr>
          <p:spPr>
            <a:xfrm>
              <a:off x="4939903" y="4095750"/>
              <a:ext cx="167059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64,92%</a:t>
              </a:r>
              <a:endParaRPr lang="en-US" sz="1725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715274" y="3962400"/>
              <a:ext cx="1870472" cy="523875"/>
            </a:xfrm>
            <a:prstGeom prst="rect">
              <a:avLst/>
            </a:prstGeom>
            <a:solidFill>
              <a:srgbClr val="F3D68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Text 22"/>
            <p:cNvSpPr/>
            <p:nvPr/>
          </p:nvSpPr>
          <p:spPr>
            <a:xfrm>
              <a:off x="6820049" y="4095750"/>
              <a:ext cx="166092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63,86%</a:t>
              </a:r>
              <a:endParaRPr lang="en-US" sz="1725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8585746" y="3962400"/>
              <a:ext cx="1879699" cy="523875"/>
            </a:xfrm>
            <a:prstGeom prst="rect">
              <a:avLst/>
            </a:prstGeom>
            <a:solidFill>
              <a:srgbClr val="EEC38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Text 24"/>
            <p:cNvSpPr/>
            <p:nvPr/>
          </p:nvSpPr>
          <p:spPr>
            <a:xfrm>
              <a:off x="8690521" y="4095750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63,04%</a:t>
              </a:r>
              <a:endParaRPr lang="en-US" sz="1725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0465445" y="3962400"/>
              <a:ext cx="1879699" cy="523875"/>
            </a:xfrm>
            <a:prstGeom prst="rect">
              <a:avLst/>
            </a:prstGeom>
            <a:solidFill>
              <a:srgbClr val="F2E29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Text 26"/>
            <p:cNvSpPr/>
            <p:nvPr/>
          </p:nvSpPr>
          <p:spPr>
            <a:xfrm>
              <a:off x="10570220" y="4095750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64,63%</a:t>
              </a:r>
              <a:endParaRPr lang="en-US" sz="1725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12345144" y="3962400"/>
              <a:ext cx="1879253" cy="523875"/>
            </a:xfrm>
            <a:prstGeom prst="rect">
              <a:avLst/>
            </a:prstGeom>
            <a:solidFill>
              <a:srgbClr val="DA785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Text 28"/>
            <p:cNvSpPr/>
            <p:nvPr/>
          </p:nvSpPr>
          <p:spPr>
            <a:xfrm>
              <a:off x="12449919" y="4095750"/>
              <a:ext cx="166970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59,75%</a:t>
              </a:r>
              <a:endParaRPr lang="en-US" sz="1725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4224397" y="3962400"/>
              <a:ext cx="3068687" cy="523875"/>
            </a:xfrm>
            <a:prstGeom prst="rect">
              <a:avLst/>
            </a:prstGeom>
            <a:solidFill>
              <a:srgbClr val="F4D99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Text 30"/>
            <p:cNvSpPr/>
            <p:nvPr/>
          </p:nvSpPr>
          <p:spPr>
            <a:xfrm>
              <a:off x="14321242" y="4095750"/>
              <a:ext cx="287499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63,99%</a:t>
              </a:r>
              <a:endParaRPr lang="en-US" sz="1725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95363" y="4486275"/>
              <a:ext cx="383976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Text 32"/>
            <p:cNvSpPr/>
            <p:nvPr/>
          </p:nvSpPr>
          <p:spPr>
            <a:xfrm>
              <a:off x="1138238" y="4619625"/>
              <a:ext cx="366920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</a:t>
              </a:r>
              <a:endParaRPr lang="en-US" sz="1575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835128" y="4486275"/>
              <a:ext cx="1880146" cy="523875"/>
            </a:xfrm>
            <a:prstGeom prst="rect">
              <a:avLst/>
            </a:prstGeom>
            <a:solidFill>
              <a:srgbClr val="CED69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Text 34"/>
            <p:cNvSpPr/>
            <p:nvPr/>
          </p:nvSpPr>
          <p:spPr>
            <a:xfrm>
              <a:off x="4939903" y="4619625"/>
              <a:ext cx="167059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65,93%</a:t>
              </a:r>
              <a:endParaRPr lang="en-US" sz="1725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6715274" y="4486275"/>
              <a:ext cx="1870472" cy="523875"/>
            </a:xfrm>
            <a:prstGeom prst="rect">
              <a:avLst/>
            </a:prstGeom>
            <a:solidFill>
              <a:srgbClr val="D35E5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Text 36"/>
            <p:cNvSpPr/>
            <p:nvPr/>
          </p:nvSpPr>
          <p:spPr>
            <a:xfrm>
              <a:off x="6820049" y="4619625"/>
              <a:ext cx="166092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58,64%</a:t>
              </a:r>
              <a:endParaRPr lang="en-US" sz="1725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8585746" y="4486275"/>
              <a:ext cx="1879699" cy="523875"/>
            </a:xfrm>
            <a:prstGeom prst="rect">
              <a:avLst/>
            </a:prstGeom>
            <a:solidFill>
              <a:srgbClr val="EDBD8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Text 38"/>
            <p:cNvSpPr/>
            <p:nvPr/>
          </p:nvSpPr>
          <p:spPr>
            <a:xfrm>
              <a:off x="8690521" y="4619625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62,78%</a:t>
              </a:r>
              <a:endParaRPr lang="en-US" sz="1725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10465445" y="4486275"/>
              <a:ext cx="1879699" cy="523875"/>
            </a:xfrm>
            <a:prstGeom prst="rect">
              <a:avLst/>
            </a:prstGeom>
            <a:solidFill>
              <a:srgbClr val="E8AD7A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Text 40"/>
            <p:cNvSpPr/>
            <p:nvPr/>
          </p:nvSpPr>
          <p:spPr>
            <a:xfrm>
              <a:off x="10570220" y="4619625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62,08%</a:t>
              </a:r>
              <a:endParaRPr lang="en-US" sz="1725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12345144" y="4486275"/>
              <a:ext cx="1879253" cy="523875"/>
            </a:xfrm>
            <a:prstGeom prst="rect">
              <a:avLst/>
            </a:prstGeom>
            <a:solidFill>
              <a:srgbClr val="DDDB9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Text 42"/>
            <p:cNvSpPr/>
            <p:nvPr/>
          </p:nvSpPr>
          <p:spPr>
            <a:xfrm>
              <a:off x="12449919" y="4619625"/>
              <a:ext cx="166970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65,40%</a:t>
              </a:r>
              <a:endParaRPr lang="en-US" sz="1725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14224397" y="4486275"/>
              <a:ext cx="3068687" cy="523875"/>
            </a:xfrm>
            <a:prstGeom prst="rect">
              <a:avLst/>
            </a:prstGeom>
            <a:solidFill>
              <a:srgbClr val="E8AE7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Text 44"/>
            <p:cNvSpPr/>
            <p:nvPr/>
          </p:nvSpPr>
          <p:spPr>
            <a:xfrm>
              <a:off x="14321242" y="4619625"/>
              <a:ext cx="287499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62,11%</a:t>
              </a:r>
              <a:endParaRPr lang="en-US" sz="1725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995363" y="5010150"/>
              <a:ext cx="383976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Text 46"/>
            <p:cNvSpPr/>
            <p:nvPr/>
          </p:nvSpPr>
          <p:spPr>
            <a:xfrm>
              <a:off x="1138238" y="5143500"/>
              <a:ext cx="366920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</a:t>
              </a:r>
              <a:endParaRPr lang="en-US" sz="1575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4835128" y="5010150"/>
              <a:ext cx="1880146" cy="523875"/>
            </a:xfrm>
            <a:prstGeom prst="rect">
              <a:avLst/>
            </a:prstGeom>
            <a:solidFill>
              <a:srgbClr val="95C388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Text 48"/>
            <p:cNvSpPr/>
            <p:nvPr/>
          </p:nvSpPr>
          <p:spPr>
            <a:xfrm>
              <a:off x="4939903" y="5143500"/>
              <a:ext cx="167059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67,95%</a:t>
              </a:r>
              <a:endParaRPr lang="en-US" sz="1725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715274" y="5010150"/>
              <a:ext cx="1870472" cy="523875"/>
            </a:xfrm>
            <a:prstGeom prst="rect">
              <a:avLst/>
            </a:prstGeom>
            <a:solidFill>
              <a:srgbClr val="82BD8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Text 50"/>
            <p:cNvSpPr/>
            <p:nvPr/>
          </p:nvSpPr>
          <p:spPr>
            <a:xfrm>
              <a:off x="6820049" y="5143500"/>
              <a:ext cx="166092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68,63%</a:t>
              </a:r>
              <a:endParaRPr lang="en-US" sz="1725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8585746" y="5010150"/>
              <a:ext cx="1879699" cy="523875"/>
            </a:xfrm>
            <a:prstGeom prst="rect">
              <a:avLst/>
            </a:prstGeom>
            <a:solidFill>
              <a:srgbClr val="60B18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Text 52"/>
            <p:cNvSpPr/>
            <p:nvPr/>
          </p:nvSpPr>
          <p:spPr>
            <a:xfrm>
              <a:off x="8690521" y="5143500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69,84%</a:t>
              </a:r>
              <a:endParaRPr lang="en-US" sz="1725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10465445" y="5010150"/>
              <a:ext cx="1879699" cy="523875"/>
            </a:xfrm>
            <a:prstGeom prst="rect">
              <a:avLst/>
            </a:prstGeom>
            <a:solidFill>
              <a:srgbClr val="54AD7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Text 54"/>
            <p:cNvSpPr/>
            <p:nvPr/>
          </p:nvSpPr>
          <p:spPr>
            <a:xfrm>
              <a:off x="10570220" y="5143500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70,27%</a:t>
              </a:r>
              <a:endParaRPr lang="en-US" sz="1725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12345144" y="5010150"/>
              <a:ext cx="1879253" cy="523875"/>
            </a:xfrm>
            <a:prstGeom prst="rect">
              <a:avLst/>
            </a:prstGeom>
            <a:solidFill>
              <a:srgbClr val="AFCC8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Text 56"/>
            <p:cNvSpPr/>
            <p:nvPr/>
          </p:nvSpPr>
          <p:spPr>
            <a:xfrm>
              <a:off x="12449919" y="5143500"/>
              <a:ext cx="166970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67,03%</a:t>
              </a:r>
              <a:endParaRPr lang="en-US" sz="1725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14224397" y="5010150"/>
              <a:ext cx="3068687" cy="523875"/>
            </a:xfrm>
            <a:prstGeom prst="rect">
              <a:avLst/>
            </a:prstGeom>
            <a:solidFill>
              <a:srgbClr val="57AE7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Text 58"/>
            <p:cNvSpPr/>
            <p:nvPr/>
          </p:nvSpPr>
          <p:spPr>
            <a:xfrm>
              <a:off x="14321242" y="5143500"/>
              <a:ext cx="287499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70,16%</a:t>
              </a:r>
              <a:endParaRPr lang="en-US" sz="1725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995363" y="5534025"/>
              <a:ext cx="383976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Text 60"/>
            <p:cNvSpPr/>
            <p:nvPr/>
          </p:nvSpPr>
          <p:spPr>
            <a:xfrm>
              <a:off x="1138238" y="5667375"/>
              <a:ext cx="366920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ZS+AD(min)</a:t>
              </a:r>
              <a:endParaRPr lang="en-US" sz="1575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4835128" y="5534025"/>
              <a:ext cx="1880146" cy="5238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Text 62"/>
            <p:cNvSpPr/>
            <p:nvPr/>
          </p:nvSpPr>
          <p:spPr>
            <a:xfrm>
              <a:off x="4939903" y="5667375"/>
              <a:ext cx="167059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C7CCD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725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6715274" y="5534025"/>
              <a:ext cx="1870472" cy="523875"/>
            </a:xfrm>
            <a:prstGeom prst="rect">
              <a:avLst/>
            </a:prstGeom>
            <a:solidFill>
              <a:srgbClr val="8DC086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" name="Text 64"/>
            <p:cNvSpPr/>
            <p:nvPr/>
          </p:nvSpPr>
          <p:spPr>
            <a:xfrm>
              <a:off x="6820049" y="5667375"/>
              <a:ext cx="166092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68,23%</a:t>
              </a:r>
              <a:endParaRPr lang="en-US" sz="1725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8585746" y="5534025"/>
              <a:ext cx="1879699" cy="523875"/>
            </a:xfrm>
            <a:prstGeom prst="rect">
              <a:avLst/>
            </a:prstGeom>
            <a:solidFill>
              <a:srgbClr val="CBD59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" name="Text 66"/>
            <p:cNvSpPr/>
            <p:nvPr/>
          </p:nvSpPr>
          <p:spPr>
            <a:xfrm>
              <a:off x="8690521" y="5667375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66,01%</a:t>
              </a:r>
              <a:endParaRPr lang="en-US" sz="1725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10465445" y="5534025"/>
              <a:ext cx="1879699" cy="523875"/>
            </a:xfrm>
            <a:prstGeom prst="rect">
              <a:avLst/>
            </a:prstGeom>
            <a:solidFill>
              <a:srgbClr val="79BA8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" name="Text 68"/>
            <p:cNvSpPr/>
            <p:nvPr/>
          </p:nvSpPr>
          <p:spPr>
            <a:xfrm>
              <a:off x="10570220" y="5667375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68,94%</a:t>
              </a:r>
              <a:endParaRPr lang="en-US" sz="1725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12345144" y="5534025"/>
              <a:ext cx="1879253" cy="523875"/>
            </a:xfrm>
            <a:prstGeom prst="rect">
              <a:avLst/>
            </a:prstGeom>
            <a:solidFill>
              <a:srgbClr val="BED18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" name="Text 70"/>
            <p:cNvSpPr/>
            <p:nvPr/>
          </p:nvSpPr>
          <p:spPr>
            <a:xfrm>
              <a:off x="12449919" y="5667375"/>
              <a:ext cx="166970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66,48%</a:t>
              </a:r>
              <a:endParaRPr lang="en-US" sz="1725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14224397" y="5534025"/>
              <a:ext cx="3068687" cy="523875"/>
            </a:xfrm>
            <a:prstGeom prst="rect">
              <a:avLst/>
            </a:prstGeom>
            <a:solidFill>
              <a:srgbClr val="9CC58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" name="Text 72"/>
            <p:cNvSpPr/>
            <p:nvPr/>
          </p:nvSpPr>
          <p:spPr>
            <a:xfrm>
              <a:off x="14321242" y="5667375"/>
              <a:ext cx="287499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67,70%</a:t>
              </a:r>
              <a:endParaRPr lang="en-US" sz="1725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995363" y="6057900"/>
              <a:ext cx="383976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" name="Text 74"/>
            <p:cNvSpPr/>
            <p:nvPr/>
          </p:nvSpPr>
          <p:spPr>
            <a:xfrm>
              <a:off x="1138238" y="6191250"/>
              <a:ext cx="366920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FS</a:t>
              </a:r>
              <a:endParaRPr lang="en-US" sz="1575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4835128" y="6057900"/>
              <a:ext cx="1880146" cy="523875"/>
            </a:xfrm>
            <a:prstGeom prst="rect">
              <a:avLst/>
            </a:prstGeom>
            <a:solidFill>
              <a:srgbClr val="CED69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" name="Text 76"/>
            <p:cNvSpPr/>
            <p:nvPr/>
          </p:nvSpPr>
          <p:spPr>
            <a:xfrm>
              <a:off x="4939903" y="6191250"/>
              <a:ext cx="167059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65,92%</a:t>
              </a:r>
              <a:endParaRPr lang="en-US" sz="1725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6715274" y="6057900"/>
              <a:ext cx="1870472" cy="523875"/>
            </a:xfrm>
            <a:prstGeom prst="rect">
              <a:avLst/>
            </a:prstGeom>
            <a:solidFill>
              <a:srgbClr val="E49E7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" name="Text 78"/>
            <p:cNvSpPr/>
            <p:nvPr/>
          </p:nvSpPr>
          <p:spPr>
            <a:xfrm>
              <a:off x="6820049" y="6191250"/>
              <a:ext cx="166092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61,42%</a:t>
              </a:r>
              <a:endParaRPr lang="en-US" sz="1725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8585746" y="6057900"/>
              <a:ext cx="1879699" cy="523875"/>
            </a:xfrm>
            <a:prstGeom prst="rect">
              <a:avLst/>
            </a:prstGeom>
            <a:solidFill>
              <a:srgbClr val="EEE19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" name="Text 80"/>
            <p:cNvSpPr/>
            <p:nvPr/>
          </p:nvSpPr>
          <p:spPr>
            <a:xfrm>
              <a:off x="8690521" y="6191250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64,76%</a:t>
              </a:r>
              <a:endParaRPr lang="en-US" sz="1725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10465445" y="6057900"/>
              <a:ext cx="1879699" cy="523875"/>
            </a:xfrm>
            <a:prstGeom prst="rect">
              <a:avLst/>
            </a:prstGeom>
            <a:solidFill>
              <a:srgbClr val="E49E7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" name="Text 82"/>
            <p:cNvSpPr/>
            <p:nvPr/>
          </p:nvSpPr>
          <p:spPr>
            <a:xfrm>
              <a:off x="10570220" y="6191250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61,43%</a:t>
              </a:r>
              <a:endParaRPr lang="en-US" sz="1725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12345144" y="6057900"/>
              <a:ext cx="1879253" cy="523875"/>
            </a:xfrm>
            <a:prstGeom prst="rect">
              <a:avLst/>
            </a:prstGeom>
            <a:solidFill>
              <a:srgbClr val="ECBC8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" name="Text 84"/>
            <p:cNvSpPr/>
            <p:nvPr/>
          </p:nvSpPr>
          <p:spPr>
            <a:xfrm>
              <a:off x="12449919" y="6191250"/>
              <a:ext cx="166970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62,70%</a:t>
              </a:r>
              <a:endParaRPr lang="en-US" sz="1725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14224397" y="6057900"/>
              <a:ext cx="3068687" cy="523875"/>
            </a:xfrm>
            <a:prstGeom prst="rect">
              <a:avLst/>
            </a:prstGeom>
            <a:solidFill>
              <a:srgbClr val="EDBD8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" name="Text 86"/>
            <p:cNvSpPr/>
            <p:nvPr/>
          </p:nvSpPr>
          <p:spPr>
            <a:xfrm>
              <a:off x="14321242" y="6191250"/>
              <a:ext cx="287499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62,77%</a:t>
              </a:r>
              <a:endParaRPr lang="en-US" sz="1725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995363" y="6581775"/>
              <a:ext cx="383976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" name="Text 88"/>
            <p:cNvSpPr/>
            <p:nvPr/>
          </p:nvSpPr>
          <p:spPr>
            <a:xfrm>
              <a:off x="1138238" y="6715125"/>
              <a:ext cx="366920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</a:t>
              </a:r>
              <a:endParaRPr lang="en-US" sz="1575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4835128" y="6581775"/>
              <a:ext cx="1880146" cy="523875"/>
            </a:xfrm>
            <a:prstGeom prst="rect">
              <a:avLst/>
            </a:prstGeom>
            <a:solidFill>
              <a:srgbClr val="F3D48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" name="Text 90"/>
            <p:cNvSpPr/>
            <p:nvPr/>
          </p:nvSpPr>
          <p:spPr>
            <a:xfrm>
              <a:off x="4939903" y="6715125"/>
              <a:ext cx="167059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63,77%</a:t>
              </a:r>
              <a:endParaRPr lang="en-US" sz="1725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6715274" y="6581775"/>
              <a:ext cx="1870472" cy="523875"/>
            </a:xfrm>
            <a:prstGeom prst="rect">
              <a:avLst/>
            </a:prstGeom>
            <a:solidFill>
              <a:srgbClr val="E3986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" name="Text 92"/>
            <p:cNvSpPr/>
            <p:nvPr/>
          </p:nvSpPr>
          <p:spPr>
            <a:xfrm>
              <a:off x="6820049" y="6715125"/>
              <a:ext cx="166092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61,15%</a:t>
              </a:r>
              <a:endParaRPr lang="en-US" sz="1725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8585746" y="6581775"/>
              <a:ext cx="1879699" cy="523875"/>
            </a:xfrm>
            <a:prstGeom prst="rect">
              <a:avLst/>
            </a:prstGeom>
            <a:solidFill>
              <a:srgbClr val="EBB88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" name="Text 94"/>
            <p:cNvSpPr/>
            <p:nvPr/>
          </p:nvSpPr>
          <p:spPr>
            <a:xfrm>
              <a:off x="8690521" y="6715125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62,56%</a:t>
              </a:r>
              <a:endParaRPr lang="en-US" sz="1725" dirty="0"/>
            </a:p>
          </p:txBody>
        </p:sp>
        <p:sp>
          <p:nvSpPr>
            <p:cNvPr id="97" name="Shape 95"/>
            <p:cNvSpPr/>
            <p:nvPr/>
          </p:nvSpPr>
          <p:spPr>
            <a:xfrm>
              <a:off x="10465445" y="6581775"/>
              <a:ext cx="1879699" cy="523875"/>
            </a:xfrm>
            <a:prstGeom prst="rect">
              <a:avLst/>
            </a:prstGeom>
            <a:solidFill>
              <a:srgbClr val="F1CD8A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" name="Text 96"/>
            <p:cNvSpPr/>
            <p:nvPr/>
          </p:nvSpPr>
          <p:spPr>
            <a:xfrm>
              <a:off x="10570220" y="6715125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63,44%</a:t>
              </a:r>
              <a:endParaRPr lang="en-US" sz="1725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12345144" y="6581775"/>
              <a:ext cx="1879253" cy="523875"/>
            </a:xfrm>
            <a:prstGeom prst="rect">
              <a:avLst/>
            </a:prstGeom>
            <a:solidFill>
              <a:srgbClr val="DB7A6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" name="Text 98"/>
            <p:cNvSpPr/>
            <p:nvPr/>
          </p:nvSpPr>
          <p:spPr>
            <a:xfrm>
              <a:off x="12449919" y="6715125"/>
              <a:ext cx="166970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59,87%</a:t>
              </a:r>
              <a:endParaRPr lang="en-US" sz="1725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14224397" y="6581775"/>
              <a:ext cx="3068687" cy="523875"/>
            </a:xfrm>
            <a:prstGeom prst="rect">
              <a:avLst/>
            </a:prstGeom>
            <a:solidFill>
              <a:srgbClr val="F0C888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" name="Text 100"/>
            <p:cNvSpPr/>
            <p:nvPr/>
          </p:nvSpPr>
          <p:spPr>
            <a:xfrm>
              <a:off x="14321242" y="6715125"/>
              <a:ext cx="287499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63,26%</a:t>
              </a:r>
              <a:endParaRPr lang="en-US" sz="1725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995363" y="7105650"/>
              <a:ext cx="383976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" name="Text 102"/>
            <p:cNvSpPr/>
            <p:nvPr/>
          </p:nvSpPr>
          <p:spPr>
            <a:xfrm>
              <a:off x="1138238" y="7239000"/>
              <a:ext cx="366920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ZS+RP+AD(min)</a:t>
              </a:r>
              <a:endParaRPr lang="en-US" sz="1575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4835128" y="7105650"/>
              <a:ext cx="1880146" cy="523875"/>
            </a:xfrm>
            <a:prstGeom prst="rect">
              <a:avLst/>
            </a:prstGeom>
            <a:solidFill>
              <a:srgbClr val="E5DE9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6" name="Text 104"/>
            <p:cNvSpPr/>
            <p:nvPr/>
          </p:nvSpPr>
          <p:spPr>
            <a:xfrm>
              <a:off x="4939903" y="7239000"/>
              <a:ext cx="167059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65,08%</a:t>
              </a:r>
              <a:endParaRPr lang="en-US" sz="1725" dirty="0"/>
            </a:p>
          </p:txBody>
        </p:sp>
        <p:sp>
          <p:nvSpPr>
            <p:cNvPr id="107" name="Shape 105"/>
            <p:cNvSpPr/>
            <p:nvPr/>
          </p:nvSpPr>
          <p:spPr>
            <a:xfrm>
              <a:off x="6715274" y="7105650"/>
              <a:ext cx="1870472" cy="523875"/>
            </a:xfrm>
            <a:prstGeom prst="rect">
              <a:avLst/>
            </a:prstGeom>
            <a:solidFill>
              <a:srgbClr val="BBD08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8" name="Text 106"/>
            <p:cNvSpPr/>
            <p:nvPr/>
          </p:nvSpPr>
          <p:spPr>
            <a:xfrm>
              <a:off x="6820049" y="7239000"/>
              <a:ext cx="166092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66,61%</a:t>
              </a:r>
              <a:endParaRPr lang="en-US" sz="1725" dirty="0"/>
            </a:p>
          </p:txBody>
        </p:sp>
        <p:sp>
          <p:nvSpPr>
            <p:cNvPr id="109" name="Shape 107"/>
            <p:cNvSpPr/>
            <p:nvPr/>
          </p:nvSpPr>
          <p:spPr>
            <a:xfrm>
              <a:off x="8585746" y="7105650"/>
              <a:ext cx="1879699" cy="523875"/>
            </a:xfrm>
            <a:prstGeom prst="rect">
              <a:avLst/>
            </a:prstGeom>
            <a:solidFill>
              <a:srgbClr val="CAD58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0" name="Text 108"/>
            <p:cNvSpPr/>
            <p:nvPr/>
          </p:nvSpPr>
          <p:spPr>
            <a:xfrm>
              <a:off x="8690521" y="7239000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66,05%</a:t>
              </a:r>
              <a:endParaRPr lang="en-US" sz="1725" dirty="0"/>
            </a:p>
          </p:txBody>
        </p:sp>
        <p:sp>
          <p:nvSpPr>
            <p:cNvPr id="111" name="Shape 109"/>
            <p:cNvSpPr/>
            <p:nvPr/>
          </p:nvSpPr>
          <p:spPr>
            <a:xfrm>
              <a:off x="10465445" y="7105650"/>
              <a:ext cx="1879699" cy="523875"/>
            </a:xfrm>
            <a:prstGeom prst="rect">
              <a:avLst/>
            </a:prstGeom>
            <a:solidFill>
              <a:srgbClr val="D7D99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2" name="Text 110"/>
            <p:cNvSpPr/>
            <p:nvPr/>
          </p:nvSpPr>
          <p:spPr>
            <a:xfrm>
              <a:off x="10570220" y="7239000"/>
              <a:ext cx="167014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65,60%</a:t>
              </a:r>
              <a:endParaRPr lang="en-US" sz="1725" dirty="0"/>
            </a:p>
          </p:txBody>
        </p:sp>
        <p:sp>
          <p:nvSpPr>
            <p:cNvPr id="113" name="Shape 111"/>
            <p:cNvSpPr/>
            <p:nvPr/>
          </p:nvSpPr>
          <p:spPr>
            <a:xfrm>
              <a:off x="12345144" y="7105650"/>
              <a:ext cx="1879253" cy="523875"/>
            </a:xfrm>
            <a:prstGeom prst="rect">
              <a:avLst/>
            </a:prstGeom>
            <a:solidFill>
              <a:srgbClr val="ECE094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4" name="Text 112"/>
            <p:cNvSpPr/>
            <p:nvPr/>
          </p:nvSpPr>
          <p:spPr>
            <a:xfrm>
              <a:off x="12449919" y="7239000"/>
              <a:ext cx="166970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64,86%</a:t>
              </a:r>
              <a:endParaRPr lang="en-US" sz="1725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14224397" y="7105650"/>
              <a:ext cx="3068687" cy="523875"/>
            </a:xfrm>
            <a:prstGeom prst="rect">
              <a:avLst/>
            </a:prstGeom>
            <a:solidFill>
              <a:srgbClr val="F6E29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6" name="Text 114"/>
            <p:cNvSpPr/>
            <p:nvPr/>
          </p:nvSpPr>
          <p:spPr>
            <a:xfrm>
              <a:off x="14321242" y="7239000"/>
              <a:ext cx="287499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64,35%</a:t>
              </a:r>
              <a:endParaRPr lang="en-US" sz="1725" dirty="0"/>
            </a:p>
          </p:txBody>
        </p:sp>
        <p:sp>
          <p:nvSpPr>
            <p:cNvPr id="117" name="Text 115"/>
            <p:cNvSpPr/>
            <p:nvPr/>
          </p:nvSpPr>
          <p:spPr>
            <a:xfrm>
              <a:off x="990600" y="7843838"/>
              <a:ext cx="16796004" cy="3333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650" b="1" dirty="0">
                  <a:solidFill>
                    <a:srgbClr val="5B647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AUROC. </a:t>
              </a:r>
              <a:r>
                <a:rPr lang="en-US" sz="1650" dirty="0">
                  <a:solidFill>
                    <a:srgbClr val="5B647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Wie gut das Modell hateful von nicht-hateful Memes trennt. 0,5 ist bloßes Raten, 1,0 ist perfekt. Rot = niedrig, Grün = hoch; bester Wert hervorgehoben.</a:t>
              </a:r>
              <a:endParaRPr lang="en-US" sz="1650" dirty="0"/>
            </a:p>
          </p:txBody>
        </p:sp>
      </p:grpSp>
      <p:sp>
        <p:nvSpPr>
          <p:cNvPr id="121" name="Textfeld 120">
            <a:extLst>
              <a:ext uri="{FF2B5EF4-FFF2-40B4-BE49-F238E27FC236}">
                <a16:creationId xmlns:a16="http://schemas.microsoft.com/office/drawing/2014/main" id="{FD7775F1-E872-9DE8-610B-9E3FAB3D1B0D}"/>
              </a:ext>
            </a:extLst>
          </p:cNvPr>
          <p:cNvSpPr txBox="1"/>
          <p:nvPr/>
        </p:nvSpPr>
        <p:spPr>
          <a:xfrm>
            <a:off x="990600" y="7539496"/>
            <a:ext cx="166828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Nur mäßig bei 0,59 bis 0,70, das Modell trennt also weniger gut wie ein Mensch</a:t>
            </a:r>
            <a:b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Durch die grobe Confidence wenig aussagekräftig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35465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ERGEBNISSE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354658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029658" y="1009650"/>
            <a:ext cx="3439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630ED64A-D473-FF0A-903C-8E9A5750289B}"/>
              </a:ext>
            </a:extLst>
          </p:cNvPr>
          <p:cNvGrpSpPr/>
          <p:nvPr/>
        </p:nvGrpSpPr>
        <p:grpSpPr>
          <a:xfrm>
            <a:off x="990600" y="2672621"/>
            <a:ext cx="16796004" cy="4710113"/>
            <a:chOff x="990600" y="3467100"/>
            <a:chExt cx="16796004" cy="4710113"/>
          </a:xfrm>
        </p:grpSpPr>
        <p:sp>
          <p:nvSpPr>
            <p:cNvPr id="5" name="Shape 3"/>
            <p:cNvSpPr/>
            <p:nvPr/>
          </p:nvSpPr>
          <p:spPr>
            <a:xfrm>
              <a:off x="995363" y="3467100"/>
              <a:ext cx="3826669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Text 4"/>
            <p:cNvSpPr/>
            <p:nvPr/>
          </p:nvSpPr>
          <p:spPr>
            <a:xfrm>
              <a:off x="1138238" y="3600450"/>
              <a:ext cx="365571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1 ↓ / Phase 2 →</a:t>
              </a:r>
              <a:endParaRPr lang="en-US" sz="1575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822031" y="3467100"/>
              <a:ext cx="1903661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4926806" y="3600450"/>
              <a:ext cx="1694111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</a:t>
              </a:r>
              <a:endParaRPr lang="en-US" sz="1575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725692" y="3467100"/>
              <a:ext cx="1866454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 8"/>
            <p:cNvSpPr/>
            <p:nvPr/>
          </p:nvSpPr>
          <p:spPr>
            <a:xfrm>
              <a:off x="6830467" y="3600450"/>
              <a:ext cx="1656904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FS</a:t>
              </a:r>
              <a:endParaRPr lang="en-US" sz="1575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592145" y="3467100"/>
              <a:ext cx="1878509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 10"/>
            <p:cNvSpPr/>
            <p:nvPr/>
          </p:nvSpPr>
          <p:spPr>
            <a:xfrm>
              <a:off x="8696920" y="3600450"/>
              <a:ext cx="166895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</a:t>
              </a:r>
              <a:endParaRPr lang="en-US" sz="1575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470654" y="3467100"/>
              <a:ext cx="1870025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Text 12"/>
            <p:cNvSpPr/>
            <p:nvPr/>
          </p:nvSpPr>
          <p:spPr>
            <a:xfrm>
              <a:off x="10575429" y="3600450"/>
              <a:ext cx="1660475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</a:t>
              </a:r>
              <a:endParaRPr lang="en-US" sz="1575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2340679" y="3467100"/>
              <a:ext cx="1894284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 14"/>
            <p:cNvSpPr/>
            <p:nvPr/>
          </p:nvSpPr>
          <p:spPr>
            <a:xfrm>
              <a:off x="12445454" y="3600450"/>
              <a:ext cx="1684734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ZS+CoT</a:t>
              </a:r>
              <a:endParaRPr lang="en-US" sz="1575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4234964" y="3467100"/>
              <a:ext cx="3058269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Text 16"/>
            <p:cNvSpPr/>
            <p:nvPr/>
          </p:nvSpPr>
          <p:spPr>
            <a:xfrm>
              <a:off x="14331965" y="3600450"/>
              <a:ext cx="2864267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ZS+RP+AD+CoT</a:t>
              </a:r>
              <a:endParaRPr lang="en-US" sz="1575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95363" y="3962400"/>
              <a:ext cx="3826669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Text 18"/>
            <p:cNvSpPr/>
            <p:nvPr/>
          </p:nvSpPr>
          <p:spPr>
            <a:xfrm>
              <a:off x="1138238" y="4095750"/>
              <a:ext cx="365571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</a:t>
              </a:r>
              <a:endParaRPr lang="en-US" sz="1575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822031" y="3962400"/>
              <a:ext cx="1903661" cy="523875"/>
            </a:xfrm>
            <a:prstGeom prst="rect">
              <a:avLst/>
            </a:prstGeom>
            <a:solidFill>
              <a:srgbClr val="54AD7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Text 20"/>
            <p:cNvSpPr/>
            <p:nvPr/>
          </p:nvSpPr>
          <p:spPr>
            <a:xfrm>
              <a:off x="4926806" y="4095750"/>
              <a:ext cx="16941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70,40%</a:t>
              </a:r>
              <a:endParaRPr lang="en-US" sz="1725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725692" y="3962400"/>
              <a:ext cx="1866454" cy="523875"/>
            </a:xfrm>
            <a:prstGeom prst="rect">
              <a:avLst/>
            </a:prstGeom>
            <a:solidFill>
              <a:srgbClr val="D0D79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Text 22"/>
            <p:cNvSpPr/>
            <p:nvPr/>
          </p:nvSpPr>
          <p:spPr>
            <a:xfrm>
              <a:off x="6830467" y="4095750"/>
              <a:ext cx="165690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66,44%</a:t>
              </a:r>
              <a:endParaRPr lang="en-US" sz="1725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8592145" y="3962400"/>
              <a:ext cx="1878509" cy="523875"/>
            </a:xfrm>
            <a:prstGeom prst="rect">
              <a:avLst/>
            </a:prstGeom>
            <a:solidFill>
              <a:srgbClr val="95C388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Text 24"/>
            <p:cNvSpPr/>
            <p:nvPr/>
          </p:nvSpPr>
          <p:spPr>
            <a:xfrm>
              <a:off x="8696920" y="4095750"/>
              <a:ext cx="166895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68,33%</a:t>
              </a:r>
              <a:endParaRPr lang="en-US" sz="1725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0470654" y="3962400"/>
              <a:ext cx="1870025" cy="523875"/>
            </a:xfrm>
            <a:prstGeom prst="rect">
              <a:avLst/>
            </a:prstGeom>
            <a:solidFill>
              <a:srgbClr val="82BC8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Text 26"/>
            <p:cNvSpPr/>
            <p:nvPr/>
          </p:nvSpPr>
          <p:spPr>
            <a:xfrm>
              <a:off x="10575429" y="4095750"/>
              <a:ext cx="1660475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68,94%</a:t>
              </a:r>
              <a:endParaRPr lang="en-US" sz="1725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12340679" y="3962400"/>
              <a:ext cx="1894284" cy="523875"/>
            </a:xfrm>
            <a:prstGeom prst="rect">
              <a:avLst/>
            </a:prstGeom>
            <a:solidFill>
              <a:srgbClr val="DB7B6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Text 28"/>
            <p:cNvSpPr/>
            <p:nvPr/>
          </p:nvSpPr>
          <p:spPr>
            <a:xfrm>
              <a:off x="12445454" y="4095750"/>
              <a:ext cx="168473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61,11%</a:t>
              </a:r>
              <a:endParaRPr lang="en-US" sz="1725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4234964" y="3962400"/>
              <a:ext cx="3058269" cy="523875"/>
            </a:xfrm>
            <a:prstGeom prst="rect">
              <a:avLst/>
            </a:prstGeom>
            <a:solidFill>
              <a:srgbClr val="F6E496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Text 30"/>
            <p:cNvSpPr/>
            <p:nvPr/>
          </p:nvSpPr>
          <p:spPr>
            <a:xfrm>
              <a:off x="14331965" y="4095750"/>
              <a:ext cx="286426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65,22%</a:t>
              </a:r>
              <a:endParaRPr lang="en-US" sz="1725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95363" y="4486275"/>
              <a:ext cx="3826669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Text 32"/>
            <p:cNvSpPr/>
            <p:nvPr/>
          </p:nvSpPr>
          <p:spPr>
            <a:xfrm>
              <a:off x="1138238" y="4619625"/>
              <a:ext cx="365571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</a:t>
              </a:r>
              <a:endParaRPr lang="en-US" sz="1575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822031" y="4486275"/>
              <a:ext cx="1903661" cy="523875"/>
            </a:xfrm>
            <a:prstGeom prst="rect">
              <a:avLst/>
            </a:prstGeom>
            <a:solidFill>
              <a:srgbClr val="F7E29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Text 34"/>
            <p:cNvSpPr/>
            <p:nvPr/>
          </p:nvSpPr>
          <p:spPr>
            <a:xfrm>
              <a:off x="4926806" y="4619625"/>
              <a:ext cx="16941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65,13%</a:t>
              </a:r>
              <a:endParaRPr lang="en-US" sz="1725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6725692" y="4486275"/>
              <a:ext cx="1866454" cy="523875"/>
            </a:xfrm>
            <a:prstGeom prst="rect">
              <a:avLst/>
            </a:prstGeom>
            <a:solidFill>
              <a:srgbClr val="E08D6A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Text 36"/>
            <p:cNvSpPr/>
            <p:nvPr/>
          </p:nvSpPr>
          <p:spPr>
            <a:xfrm>
              <a:off x="6830467" y="4619625"/>
              <a:ext cx="165690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61,84%</a:t>
              </a:r>
              <a:endParaRPr lang="en-US" sz="1725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8592145" y="4486275"/>
              <a:ext cx="1878509" cy="523875"/>
            </a:xfrm>
            <a:prstGeom prst="rect">
              <a:avLst/>
            </a:prstGeom>
            <a:solidFill>
              <a:srgbClr val="F6E19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Text 38"/>
            <p:cNvSpPr/>
            <p:nvPr/>
          </p:nvSpPr>
          <p:spPr>
            <a:xfrm>
              <a:off x="8696920" y="4619625"/>
              <a:ext cx="166895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65,10%</a:t>
              </a:r>
              <a:endParaRPr lang="en-US" sz="1725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10470654" y="4486275"/>
              <a:ext cx="1870025" cy="523875"/>
            </a:xfrm>
            <a:prstGeom prst="rect">
              <a:avLst/>
            </a:prstGeom>
            <a:solidFill>
              <a:srgbClr val="EDE19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Text 40"/>
            <p:cNvSpPr/>
            <p:nvPr/>
          </p:nvSpPr>
          <p:spPr>
            <a:xfrm>
              <a:off x="10575429" y="4619625"/>
              <a:ext cx="1660475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65,52%</a:t>
              </a:r>
              <a:endParaRPr lang="en-US" sz="1725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12340679" y="4486275"/>
              <a:ext cx="1894284" cy="523875"/>
            </a:xfrm>
            <a:prstGeom prst="rect">
              <a:avLst/>
            </a:prstGeom>
            <a:solidFill>
              <a:srgbClr val="E39A7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Text 42"/>
            <p:cNvSpPr/>
            <p:nvPr/>
          </p:nvSpPr>
          <p:spPr>
            <a:xfrm>
              <a:off x="12445454" y="4619625"/>
              <a:ext cx="168473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62,31%</a:t>
              </a:r>
              <a:endParaRPr lang="en-US" sz="1725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14234964" y="4486275"/>
              <a:ext cx="3058269" cy="523875"/>
            </a:xfrm>
            <a:prstGeom prst="rect">
              <a:avLst/>
            </a:prstGeom>
            <a:solidFill>
              <a:srgbClr val="E8AD7A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Text 44"/>
            <p:cNvSpPr/>
            <p:nvPr/>
          </p:nvSpPr>
          <p:spPr>
            <a:xfrm>
              <a:off x="14331965" y="4619625"/>
              <a:ext cx="286426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63,07%</a:t>
              </a:r>
              <a:endParaRPr lang="en-US" sz="1725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995363" y="5010150"/>
              <a:ext cx="3826669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Text 46"/>
            <p:cNvSpPr/>
            <p:nvPr/>
          </p:nvSpPr>
          <p:spPr>
            <a:xfrm>
              <a:off x="1138238" y="5143500"/>
              <a:ext cx="365571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</a:t>
              </a:r>
              <a:endParaRPr lang="en-US" sz="1575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4822031" y="5010150"/>
              <a:ext cx="1903661" cy="523875"/>
            </a:xfrm>
            <a:prstGeom prst="rect">
              <a:avLst/>
            </a:prstGeom>
            <a:solidFill>
              <a:srgbClr val="E9AF7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Text 48"/>
            <p:cNvSpPr/>
            <p:nvPr/>
          </p:nvSpPr>
          <p:spPr>
            <a:xfrm>
              <a:off x="4926806" y="5143500"/>
              <a:ext cx="16941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63,14%</a:t>
              </a:r>
              <a:endParaRPr lang="en-US" sz="1725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725692" y="5010150"/>
              <a:ext cx="1866454" cy="523875"/>
            </a:xfrm>
            <a:prstGeom prst="rect">
              <a:avLst/>
            </a:prstGeom>
            <a:solidFill>
              <a:srgbClr val="E5A07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Text 50"/>
            <p:cNvSpPr/>
            <p:nvPr/>
          </p:nvSpPr>
          <p:spPr>
            <a:xfrm>
              <a:off x="6830467" y="5143500"/>
              <a:ext cx="165690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62,55%</a:t>
              </a:r>
              <a:endParaRPr lang="en-US" sz="1725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8592145" y="5010150"/>
              <a:ext cx="1878509" cy="523875"/>
            </a:xfrm>
            <a:prstGeom prst="rect">
              <a:avLst/>
            </a:prstGeom>
            <a:solidFill>
              <a:srgbClr val="E8AB7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Text 52"/>
            <p:cNvSpPr/>
            <p:nvPr/>
          </p:nvSpPr>
          <p:spPr>
            <a:xfrm>
              <a:off x="8696920" y="5143500"/>
              <a:ext cx="166895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63,00%</a:t>
              </a:r>
              <a:endParaRPr lang="en-US" sz="1725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10470654" y="5010150"/>
              <a:ext cx="1870025" cy="523875"/>
            </a:xfrm>
            <a:prstGeom prst="rect">
              <a:avLst/>
            </a:prstGeom>
            <a:solidFill>
              <a:srgbClr val="E8AD7A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Text 54"/>
            <p:cNvSpPr/>
            <p:nvPr/>
          </p:nvSpPr>
          <p:spPr>
            <a:xfrm>
              <a:off x="10575429" y="5143500"/>
              <a:ext cx="1660475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63,08%</a:t>
              </a:r>
              <a:endParaRPr lang="en-US" sz="1725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12340679" y="5010150"/>
              <a:ext cx="1894284" cy="523875"/>
            </a:xfrm>
            <a:prstGeom prst="rect">
              <a:avLst/>
            </a:prstGeom>
            <a:solidFill>
              <a:srgbClr val="E3986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Text 56"/>
            <p:cNvSpPr/>
            <p:nvPr/>
          </p:nvSpPr>
          <p:spPr>
            <a:xfrm>
              <a:off x="12445454" y="5143500"/>
              <a:ext cx="168473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62,24%</a:t>
              </a:r>
              <a:endParaRPr lang="en-US" sz="1725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14234964" y="5010150"/>
              <a:ext cx="3058269" cy="523875"/>
            </a:xfrm>
            <a:prstGeom prst="rect">
              <a:avLst/>
            </a:prstGeom>
            <a:solidFill>
              <a:srgbClr val="E39B7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Text 58"/>
            <p:cNvSpPr/>
            <p:nvPr/>
          </p:nvSpPr>
          <p:spPr>
            <a:xfrm>
              <a:off x="14331965" y="5143500"/>
              <a:ext cx="286426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62,37%</a:t>
              </a:r>
              <a:endParaRPr lang="en-US" sz="1725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995363" y="5534025"/>
              <a:ext cx="3826669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Text 60"/>
            <p:cNvSpPr/>
            <p:nvPr/>
          </p:nvSpPr>
          <p:spPr>
            <a:xfrm>
              <a:off x="1138238" y="5667375"/>
              <a:ext cx="365571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ZS+AD(min)</a:t>
              </a:r>
              <a:endParaRPr lang="en-US" sz="1575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4822031" y="5534025"/>
              <a:ext cx="1903661" cy="5238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Text 62"/>
            <p:cNvSpPr/>
            <p:nvPr/>
          </p:nvSpPr>
          <p:spPr>
            <a:xfrm>
              <a:off x="4926806" y="5667375"/>
              <a:ext cx="16941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C7CCD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725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6725692" y="5534025"/>
              <a:ext cx="1866454" cy="523875"/>
            </a:xfrm>
            <a:prstGeom prst="rect">
              <a:avLst/>
            </a:prstGeom>
            <a:solidFill>
              <a:srgbClr val="E0DC9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" name="Text 64"/>
            <p:cNvSpPr/>
            <p:nvPr/>
          </p:nvSpPr>
          <p:spPr>
            <a:xfrm>
              <a:off x="6830467" y="5667375"/>
              <a:ext cx="165690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65,92%</a:t>
              </a:r>
              <a:endParaRPr lang="en-US" sz="1725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8592145" y="5534025"/>
              <a:ext cx="1878509" cy="523875"/>
            </a:xfrm>
            <a:prstGeom prst="rect">
              <a:avLst/>
            </a:prstGeom>
            <a:solidFill>
              <a:srgbClr val="E9AF7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" name="Text 66"/>
            <p:cNvSpPr/>
            <p:nvPr/>
          </p:nvSpPr>
          <p:spPr>
            <a:xfrm>
              <a:off x="8696920" y="5667375"/>
              <a:ext cx="166895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63,14%</a:t>
              </a:r>
              <a:endParaRPr lang="en-US" sz="1725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10470654" y="5534025"/>
              <a:ext cx="1870025" cy="523875"/>
            </a:xfrm>
            <a:prstGeom prst="rect">
              <a:avLst/>
            </a:prstGeom>
            <a:solidFill>
              <a:srgbClr val="C9D48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" name="Text 68"/>
            <p:cNvSpPr/>
            <p:nvPr/>
          </p:nvSpPr>
          <p:spPr>
            <a:xfrm>
              <a:off x="10575429" y="5667375"/>
              <a:ext cx="1660475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66,67%</a:t>
              </a:r>
              <a:endParaRPr lang="en-US" sz="1725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12340679" y="5534025"/>
              <a:ext cx="1894284" cy="523875"/>
            </a:xfrm>
            <a:prstGeom prst="rect">
              <a:avLst/>
            </a:prstGeom>
            <a:solidFill>
              <a:srgbClr val="E9B07C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" name="Text 70"/>
            <p:cNvSpPr/>
            <p:nvPr/>
          </p:nvSpPr>
          <p:spPr>
            <a:xfrm>
              <a:off x="12445454" y="5667375"/>
              <a:ext cx="168473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63,20%</a:t>
              </a:r>
              <a:endParaRPr lang="en-US" sz="1725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14234964" y="5534025"/>
              <a:ext cx="3058269" cy="523875"/>
            </a:xfrm>
            <a:prstGeom prst="rect">
              <a:avLst/>
            </a:prstGeom>
            <a:solidFill>
              <a:srgbClr val="E4DE9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" name="Text 72"/>
            <p:cNvSpPr/>
            <p:nvPr/>
          </p:nvSpPr>
          <p:spPr>
            <a:xfrm>
              <a:off x="14331965" y="5667375"/>
              <a:ext cx="286426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65,81%</a:t>
              </a:r>
              <a:endParaRPr lang="en-US" sz="1725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995363" y="6057900"/>
              <a:ext cx="3826669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" name="Text 74"/>
            <p:cNvSpPr/>
            <p:nvPr/>
          </p:nvSpPr>
          <p:spPr>
            <a:xfrm>
              <a:off x="1138238" y="6191250"/>
              <a:ext cx="365571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FS</a:t>
              </a:r>
              <a:endParaRPr lang="en-US" sz="1575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4822031" y="6057900"/>
              <a:ext cx="1903661" cy="523875"/>
            </a:xfrm>
            <a:prstGeom prst="rect">
              <a:avLst/>
            </a:prstGeom>
            <a:solidFill>
              <a:srgbClr val="91C287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" name="Text 76"/>
            <p:cNvSpPr/>
            <p:nvPr/>
          </p:nvSpPr>
          <p:spPr>
            <a:xfrm>
              <a:off x="4926806" y="6191250"/>
              <a:ext cx="16941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68,46%</a:t>
              </a:r>
              <a:endParaRPr lang="en-US" sz="1725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6725692" y="6057900"/>
              <a:ext cx="1866454" cy="523875"/>
            </a:xfrm>
            <a:prstGeom prst="rect">
              <a:avLst/>
            </a:prstGeom>
            <a:solidFill>
              <a:srgbClr val="C1D28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" name="Text 78"/>
            <p:cNvSpPr/>
            <p:nvPr/>
          </p:nvSpPr>
          <p:spPr>
            <a:xfrm>
              <a:off x="6830467" y="6191250"/>
              <a:ext cx="165690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66,93%</a:t>
              </a:r>
              <a:endParaRPr lang="en-US" sz="1725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8592145" y="6057900"/>
              <a:ext cx="1878509" cy="523875"/>
            </a:xfrm>
            <a:prstGeom prst="rect">
              <a:avLst/>
            </a:prstGeom>
            <a:solidFill>
              <a:srgbClr val="E5DE9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" name="Text 80"/>
            <p:cNvSpPr/>
            <p:nvPr/>
          </p:nvSpPr>
          <p:spPr>
            <a:xfrm>
              <a:off x="8696920" y="6191250"/>
              <a:ext cx="166895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65,77%</a:t>
              </a:r>
              <a:endParaRPr lang="en-US" sz="1725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10470654" y="6057900"/>
              <a:ext cx="1870025" cy="523875"/>
            </a:xfrm>
            <a:prstGeom prst="rect">
              <a:avLst/>
            </a:prstGeom>
            <a:solidFill>
              <a:srgbClr val="ECBC8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" name="Text 82"/>
            <p:cNvSpPr/>
            <p:nvPr/>
          </p:nvSpPr>
          <p:spPr>
            <a:xfrm>
              <a:off x="10575429" y="6191250"/>
              <a:ext cx="1660475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63,64%</a:t>
              </a:r>
              <a:endParaRPr lang="en-US" sz="1725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12340679" y="6057900"/>
              <a:ext cx="1894284" cy="523875"/>
            </a:xfrm>
            <a:prstGeom prst="rect">
              <a:avLst/>
            </a:prstGeom>
            <a:solidFill>
              <a:srgbClr val="DC806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" name="Text 84"/>
            <p:cNvSpPr/>
            <p:nvPr/>
          </p:nvSpPr>
          <p:spPr>
            <a:xfrm>
              <a:off x="12445454" y="6191250"/>
              <a:ext cx="168473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61,31%</a:t>
              </a:r>
              <a:endParaRPr lang="en-US" sz="1725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14234964" y="6057900"/>
              <a:ext cx="3058269" cy="523875"/>
            </a:xfrm>
            <a:prstGeom prst="rect">
              <a:avLst/>
            </a:prstGeom>
            <a:solidFill>
              <a:srgbClr val="DA7A6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" name="Text 86"/>
            <p:cNvSpPr/>
            <p:nvPr/>
          </p:nvSpPr>
          <p:spPr>
            <a:xfrm>
              <a:off x="14331965" y="6191250"/>
              <a:ext cx="286426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61,08%</a:t>
              </a:r>
              <a:endParaRPr lang="en-US" sz="1725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995363" y="6581775"/>
              <a:ext cx="3826669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" name="Text 88"/>
            <p:cNvSpPr/>
            <p:nvPr/>
          </p:nvSpPr>
          <p:spPr>
            <a:xfrm>
              <a:off x="1138238" y="6715125"/>
              <a:ext cx="365571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</a:t>
              </a:r>
              <a:endParaRPr lang="en-US" sz="1575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4822031" y="6581775"/>
              <a:ext cx="1903661" cy="523875"/>
            </a:xfrm>
            <a:prstGeom prst="rect">
              <a:avLst/>
            </a:prstGeom>
            <a:solidFill>
              <a:srgbClr val="61B18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" name="Text 90"/>
            <p:cNvSpPr/>
            <p:nvPr/>
          </p:nvSpPr>
          <p:spPr>
            <a:xfrm>
              <a:off x="4926806" y="6715125"/>
              <a:ext cx="16941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70,00%</a:t>
              </a:r>
              <a:endParaRPr lang="en-US" sz="1725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6725692" y="6581775"/>
              <a:ext cx="1866454" cy="523875"/>
            </a:xfrm>
            <a:prstGeom prst="rect">
              <a:avLst/>
            </a:prstGeom>
            <a:solidFill>
              <a:srgbClr val="E8AC7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" name="Text 92"/>
            <p:cNvSpPr/>
            <p:nvPr/>
          </p:nvSpPr>
          <p:spPr>
            <a:xfrm>
              <a:off x="6830467" y="6715125"/>
              <a:ext cx="165690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63,01%</a:t>
              </a:r>
              <a:endParaRPr lang="en-US" sz="1725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8592145" y="6581775"/>
              <a:ext cx="1878509" cy="523875"/>
            </a:xfrm>
            <a:prstGeom prst="rect">
              <a:avLst/>
            </a:prstGeom>
            <a:solidFill>
              <a:srgbClr val="E39B7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" name="Text 94"/>
            <p:cNvSpPr/>
            <p:nvPr/>
          </p:nvSpPr>
          <p:spPr>
            <a:xfrm>
              <a:off x="8696920" y="6715125"/>
              <a:ext cx="166895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62,36%</a:t>
              </a:r>
              <a:endParaRPr lang="en-US" sz="1725" dirty="0"/>
            </a:p>
          </p:txBody>
        </p:sp>
        <p:sp>
          <p:nvSpPr>
            <p:cNvPr id="97" name="Shape 95"/>
            <p:cNvSpPr/>
            <p:nvPr/>
          </p:nvSpPr>
          <p:spPr>
            <a:xfrm>
              <a:off x="10470654" y="6581775"/>
              <a:ext cx="1870025" cy="523875"/>
            </a:xfrm>
            <a:prstGeom prst="rect">
              <a:avLst/>
            </a:prstGeom>
            <a:solidFill>
              <a:srgbClr val="DD8264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" name="Text 96"/>
            <p:cNvSpPr/>
            <p:nvPr/>
          </p:nvSpPr>
          <p:spPr>
            <a:xfrm>
              <a:off x="10575429" y="6715125"/>
              <a:ext cx="1660475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61,38%</a:t>
              </a:r>
              <a:endParaRPr lang="en-US" sz="1725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12340679" y="6581775"/>
              <a:ext cx="1894284" cy="523875"/>
            </a:xfrm>
            <a:prstGeom prst="rect">
              <a:avLst/>
            </a:prstGeom>
            <a:solidFill>
              <a:srgbClr val="D35E5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" name="Text 98"/>
            <p:cNvSpPr/>
            <p:nvPr/>
          </p:nvSpPr>
          <p:spPr>
            <a:xfrm>
              <a:off x="12445454" y="6715125"/>
              <a:ext cx="168473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60,00%</a:t>
              </a:r>
              <a:endParaRPr lang="en-US" sz="1725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14234964" y="6581775"/>
              <a:ext cx="3058269" cy="523875"/>
            </a:xfrm>
            <a:prstGeom prst="rect">
              <a:avLst/>
            </a:prstGeom>
            <a:solidFill>
              <a:srgbClr val="DC8164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" name="Text 100"/>
            <p:cNvSpPr/>
            <p:nvPr/>
          </p:nvSpPr>
          <p:spPr>
            <a:xfrm>
              <a:off x="14331965" y="6715125"/>
              <a:ext cx="286426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61,34%</a:t>
              </a:r>
              <a:endParaRPr lang="en-US" sz="1725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995363" y="7105650"/>
              <a:ext cx="3826669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" name="Text 102"/>
            <p:cNvSpPr/>
            <p:nvPr/>
          </p:nvSpPr>
          <p:spPr>
            <a:xfrm>
              <a:off x="1138238" y="7239000"/>
              <a:ext cx="365571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ZS+RP+AD(min)</a:t>
              </a:r>
              <a:endParaRPr lang="en-US" sz="1575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4822031" y="7105650"/>
              <a:ext cx="1903661" cy="523875"/>
            </a:xfrm>
            <a:prstGeom prst="rect">
              <a:avLst/>
            </a:prstGeom>
            <a:solidFill>
              <a:srgbClr val="F5DE9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6" name="Text 104"/>
            <p:cNvSpPr/>
            <p:nvPr/>
          </p:nvSpPr>
          <p:spPr>
            <a:xfrm>
              <a:off x="4926806" y="7239000"/>
              <a:ext cx="16941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64,95%</a:t>
              </a:r>
              <a:endParaRPr lang="en-US" sz="1725" dirty="0"/>
            </a:p>
          </p:txBody>
        </p:sp>
        <p:sp>
          <p:nvSpPr>
            <p:cNvPr id="107" name="Shape 105"/>
            <p:cNvSpPr/>
            <p:nvPr/>
          </p:nvSpPr>
          <p:spPr>
            <a:xfrm>
              <a:off x="6725692" y="7105650"/>
              <a:ext cx="1866454" cy="523875"/>
            </a:xfrm>
            <a:prstGeom prst="rect">
              <a:avLst/>
            </a:prstGeom>
            <a:solidFill>
              <a:srgbClr val="F4D99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8" name="Text 106"/>
            <p:cNvSpPr/>
            <p:nvPr/>
          </p:nvSpPr>
          <p:spPr>
            <a:xfrm>
              <a:off x="6830467" y="7239000"/>
              <a:ext cx="165690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64,76%</a:t>
              </a:r>
              <a:endParaRPr lang="en-US" sz="1725" dirty="0"/>
            </a:p>
          </p:txBody>
        </p:sp>
        <p:sp>
          <p:nvSpPr>
            <p:cNvPr id="109" name="Shape 107"/>
            <p:cNvSpPr/>
            <p:nvPr/>
          </p:nvSpPr>
          <p:spPr>
            <a:xfrm>
              <a:off x="8592145" y="7105650"/>
              <a:ext cx="1878509" cy="523875"/>
            </a:xfrm>
            <a:prstGeom prst="rect">
              <a:avLst/>
            </a:prstGeom>
            <a:solidFill>
              <a:srgbClr val="F3D58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0" name="Text 108"/>
            <p:cNvSpPr/>
            <p:nvPr/>
          </p:nvSpPr>
          <p:spPr>
            <a:xfrm>
              <a:off x="8696920" y="7239000"/>
              <a:ext cx="166895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64,60%</a:t>
              </a:r>
              <a:endParaRPr lang="en-US" sz="1725" dirty="0"/>
            </a:p>
          </p:txBody>
        </p:sp>
        <p:sp>
          <p:nvSpPr>
            <p:cNvPr id="111" name="Shape 109"/>
            <p:cNvSpPr/>
            <p:nvPr/>
          </p:nvSpPr>
          <p:spPr>
            <a:xfrm>
              <a:off x="10470654" y="7105650"/>
              <a:ext cx="1870025" cy="523875"/>
            </a:xfrm>
            <a:prstGeom prst="rect">
              <a:avLst/>
            </a:prstGeom>
            <a:solidFill>
              <a:srgbClr val="F4D99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2" name="Text 110"/>
            <p:cNvSpPr/>
            <p:nvPr/>
          </p:nvSpPr>
          <p:spPr>
            <a:xfrm>
              <a:off x="10575429" y="7239000"/>
              <a:ext cx="1660475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64,79%</a:t>
              </a:r>
              <a:endParaRPr lang="en-US" sz="1725" dirty="0"/>
            </a:p>
          </p:txBody>
        </p:sp>
        <p:sp>
          <p:nvSpPr>
            <p:cNvPr id="113" name="Shape 111"/>
            <p:cNvSpPr/>
            <p:nvPr/>
          </p:nvSpPr>
          <p:spPr>
            <a:xfrm>
              <a:off x="12340679" y="7105650"/>
              <a:ext cx="1894284" cy="523875"/>
            </a:xfrm>
            <a:prstGeom prst="rect">
              <a:avLst/>
            </a:prstGeom>
            <a:solidFill>
              <a:srgbClr val="EAB47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4" name="Text 112"/>
            <p:cNvSpPr/>
            <p:nvPr/>
          </p:nvSpPr>
          <p:spPr>
            <a:xfrm>
              <a:off x="12445454" y="7239000"/>
              <a:ext cx="168473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63,32%</a:t>
              </a:r>
              <a:endParaRPr lang="en-US" sz="1725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14234964" y="7105650"/>
              <a:ext cx="3058269" cy="523875"/>
            </a:xfrm>
            <a:prstGeom prst="rect">
              <a:avLst/>
            </a:prstGeom>
            <a:solidFill>
              <a:srgbClr val="DA796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6" name="Text 114"/>
            <p:cNvSpPr/>
            <p:nvPr/>
          </p:nvSpPr>
          <p:spPr>
            <a:xfrm>
              <a:off x="14331965" y="7239000"/>
              <a:ext cx="286426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61,06%</a:t>
              </a:r>
              <a:endParaRPr lang="en-US" sz="1725" dirty="0"/>
            </a:p>
          </p:txBody>
        </p:sp>
        <p:sp>
          <p:nvSpPr>
            <p:cNvPr id="117" name="Text 115"/>
            <p:cNvSpPr/>
            <p:nvPr/>
          </p:nvSpPr>
          <p:spPr>
            <a:xfrm>
              <a:off x="990600" y="7843838"/>
              <a:ext cx="16796004" cy="3333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650" b="1" dirty="0">
                  <a:solidFill>
                    <a:srgbClr val="5B647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Precision. </a:t>
              </a:r>
              <a:r>
                <a:rPr lang="en-US" sz="1650" dirty="0">
                  <a:solidFill>
                    <a:srgbClr val="5B647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Wenn das Modell „hateful“ sagt — wie oft stimmt das wirklich. Rot = niedrig, Grün = hoch; bester Wert hervorgehoben.</a:t>
              </a:r>
              <a:endParaRPr lang="en-US" sz="1650" dirty="0"/>
            </a:p>
          </p:txBody>
        </p:sp>
      </p:grpSp>
      <p:sp>
        <p:nvSpPr>
          <p:cNvPr id="121" name="Textfeld 120">
            <a:extLst>
              <a:ext uri="{FF2B5EF4-FFF2-40B4-BE49-F238E27FC236}">
                <a16:creationId xmlns:a16="http://schemas.microsoft.com/office/drawing/2014/main" id="{3718DB4F-27E0-C29A-D924-B633AD399D7A}"/>
              </a:ext>
            </a:extLst>
          </p:cNvPr>
          <p:cNvSpPr txBox="1"/>
          <p:nvPr/>
        </p:nvSpPr>
        <p:spPr>
          <a:xfrm>
            <a:off x="990600" y="7800022"/>
            <a:ext cx="169676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de-DE" altLang="de-D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Höchster Wert bei reinem ZS (70,4%), aber nur ein Artefakt, weil ZS selten 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hateful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vorhersagt</a:t>
            </a:r>
            <a:b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Gegenläufig zum Recall (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gleich minus 0,48), eine hohe Precision geht hier auf Kosten vieler übersehener Fälle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35465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ERGEBNISSE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354658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029658" y="1009650"/>
            <a:ext cx="3439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BC2CB56F-F730-2EEF-26C0-10A3A6D62A95}"/>
              </a:ext>
            </a:extLst>
          </p:cNvPr>
          <p:cNvGrpSpPr/>
          <p:nvPr/>
        </p:nvGrpSpPr>
        <p:grpSpPr>
          <a:xfrm>
            <a:off x="990600" y="2537710"/>
            <a:ext cx="16796004" cy="4710113"/>
            <a:chOff x="990600" y="3467100"/>
            <a:chExt cx="16796004" cy="4710113"/>
          </a:xfrm>
        </p:grpSpPr>
        <p:sp>
          <p:nvSpPr>
            <p:cNvPr id="5" name="Shape 3"/>
            <p:cNvSpPr/>
            <p:nvPr/>
          </p:nvSpPr>
          <p:spPr>
            <a:xfrm>
              <a:off x="995363" y="3467100"/>
              <a:ext cx="3832920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Text 4"/>
            <p:cNvSpPr/>
            <p:nvPr/>
          </p:nvSpPr>
          <p:spPr>
            <a:xfrm>
              <a:off x="1138238" y="3600450"/>
              <a:ext cx="3662157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1 ↓ / Phase 2 →</a:t>
              </a:r>
              <a:endParaRPr lang="en-US" sz="1575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828282" y="3467100"/>
              <a:ext cx="1846213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4933057" y="3600450"/>
              <a:ext cx="1636663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</a:t>
              </a:r>
              <a:endParaRPr lang="en-US" sz="1575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674495" y="3467100"/>
              <a:ext cx="1881039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 8"/>
            <p:cNvSpPr/>
            <p:nvPr/>
          </p:nvSpPr>
          <p:spPr>
            <a:xfrm>
              <a:off x="6779270" y="3600450"/>
              <a:ext cx="167148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FS</a:t>
              </a:r>
              <a:endParaRPr lang="en-US" sz="1575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555534" y="3467100"/>
              <a:ext cx="1888629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 10"/>
            <p:cNvSpPr/>
            <p:nvPr/>
          </p:nvSpPr>
          <p:spPr>
            <a:xfrm>
              <a:off x="8660309" y="3600450"/>
              <a:ext cx="167907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</a:t>
              </a:r>
              <a:endParaRPr lang="en-US" sz="1575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444163" y="3467100"/>
              <a:ext cx="1887736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Text 12"/>
            <p:cNvSpPr/>
            <p:nvPr/>
          </p:nvSpPr>
          <p:spPr>
            <a:xfrm>
              <a:off x="10548938" y="3600450"/>
              <a:ext cx="1678186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</a:t>
              </a:r>
              <a:endParaRPr lang="en-US" sz="1575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2331898" y="3467100"/>
              <a:ext cx="1898303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 14"/>
            <p:cNvSpPr/>
            <p:nvPr/>
          </p:nvSpPr>
          <p:spPr>
            <a:xfrm>
              <a:off x="12436673" y="3600450"/>
              <a:ext cx="1688753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ZS+CoT</a:t>
              </a:r>
              <a:endParaRPr lang="en-US" sz="1575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4230201" y="3467100"/>
              <a:ext cx="3063180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Text 16"/>
            <p:cNvSpPr/>
            <p:nvPr/>
          </p:nvSpPr>
          <p:spPr>
            <a:xfrm>
              <a:off x="14327128" y="3600450"/>
              <a:ext cx="2869326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ZS+RP+AD+CoT</a:t>
              </a:r>
              <a:endParaRPr lang="en-US" sz="1575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95363" y="3962400"/>
              <a:ext cx="383292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Text 18"/>
            <p:cNvSpPr/>
            <p:nvPr/>
          </p:nvSpPr>
          <p:spPr>
            <a:xfrm>
              <a:off x="1138238" y="4095750"/>
              <a:ext cx="366215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</a:t>
              </a:r>
              <a:endParaRPr lang="en-US" sz="1575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828282" y="3962400"/>
              <a:ext cx="1846213" cy="523875"/>
            </a:xfrm>
            <a:prstGeom prst="rect">
              <a:avLst/>
            </a:prstGeom>
            <a:solidFill>
              <a:srgbClr val="D76D5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Text 20"/>
            <p:cNvSpPr/>
            <p:nvPr/>
          </p:nvSpPr>
          <p:spPr>
            <a:xfrm>
              <a:off x="4933057" y="4095750"/>
              <a:ext cx="16366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35,92%</a:t>
              </a:r>
              <a:endParaRPr lang="en-US" sz="1725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674495" y="3962400"/>
              <a:ext cx="1881039" cy="523875"/>
            </a:xfrm>
            <a:prstGeom prst="rect">
              <a:avLst/>
            </a:prstGeom>
            <a:solidFill>
              <a:srgbClr val="DC806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Text 22"/>
            <p:cNvSpPr/>
            <p:nvPr/>
          </p:nvSpPr>
          <p:spPr>
            <a:xfrm>
              <a:off x="6779270" y="4095750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38,80%</a:t>
              </a:r>
              <a:endParaRPr lang="en-US" sz="1725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8555534" y="3962400"/>
              <a:ext cx="1888629" cy="523875"/>
            </a:xfrm>
            <a:prstGeom prst="rect">
              <a:avLst/>
            </a:prstGeom>
            <a:solidFill>
              <a:srgbClr val="D66957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Text 24"/>
            <p:cNvSpPr/>
            <p:nvPr/>
          </p:nvSpPr>
          <p:spPr>
            <a:xfrm>
              <a:off x="8660309" y="4095750"/>
              <a:ext cx="167907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35,34%</a:t>
              </a:r>
              <a:endParaRPr lang="en-US" sz="1725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0444163" y="3962400"/>
              <a:ext cx="1887736" cy="523875"/>
            </a:xfrm>
            <a:prstGeom prst="rect">
              <a:avLst/>
            </a:prstGeom>
            <a:solidFill>
              <a:srgbClr val="D8725C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Text 26"/>
            <p:cNvSpPr/>
            <p:nvPr/>
          </p:nvSpPr>
          <p:spPr>
            <a:xfrm>
              <a:off x="10548938" y="4095750"/>
              <a:ext cx="167818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36,69%</a:t>
              </a:r>
              <a:endParaRPr lang="en-US" sz="1725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12331898" y="3962400"/>
              <a:ext cx="1898303" cy="523875"/>
            </a:xfrm>
            <a:prstGeom prst="rect">
              <a:avLst/>
            </a:prstGeom>
            <a:solidFill>
              <a:srgbClr val="E8AD7A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Text 28"/>
            <p:cNvSpPr/>
            <p:nvPr/>
          </p:nvSpPr>
          <p:spPr>
            <a:xfrm>
              <a:off x="12436673" y="4095750"/>
              <a:ext cx="168875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45,64%</a:t>
              </a:r>
              <a:endParaRPr lang="en-US" sz="1725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4230201" y="3962400"/>
              <a:ext cx="3063180" cy="523875"/>
            </a:xfrm>
            <a:prstGeom prst="rect">
              <a:avLst/>
            </a:prstGeom>
            <a:solidFill>
              <a:srgbClr val="D8705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Text 30"/>
            <p:cNvSpPr/>
            <p:nvPr/>
          </p:nvSpPr>
          <p:spPr>
            <a:xfrm>
              <a:off x="14327128" y="4095750"/>
              <a:ext cx="286932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36,44%</a:t>
              </a:r>
              <a:endParaRPr lang="en-US" sz="1725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95363" y="4486275"/>
              <a:ext cx="383292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Text 32"/>
            <p:cNvSpPr/>
            <p:nvPr/>
          </p:nvSpPr>
          <p:spPr>
            <a:xfrm>
              <a:off x="1138238" y="4619625"/>
              <a:ext cx="366215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</a:t>
              </a:r>
              <a:endParaRPr lang="en-US" sz="1575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828282" y="4486275"/>
              <a:ext cx="1846213" cy="523875"/>
            </a:xfrm>
            <a:prstGeom prst="rect">
              <a:avLst/>
            </a:prstGeom>
            <a:solidFill>
              <a:srgbClr val="E2966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Text 34"/>
            <p:cNvSpPr/>
            <p:nvPr/>
          </p:nvSpPr>
          <p:spPr>
            <a:xfrm>
              <a:off x="4933057" y="4619625"/>
              <a:ext cx="16366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42,13%</a:t>
              </a:r>
              <a:endParaRPr lang="en-US" sz="1725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6674495" y="4486275"/>
              <a:ext cx="1881039" cy="523875"/>
            </a:xfrm>
            <a:prstGeom prst="rect">
              <a:avLst/>
            </a:prstGeom>
            <a:solidFill>
              <a:srgbClr val="DA7A6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Text 36"/>
            <p:cNvSpPr/>
            <p:nvPr/>
          </p:nvSpPr>
          <p:spPr>
            <a:xfrm>
              <a:off x="6779270" y="4619625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37,90%</a:t>
              </a:r>
              <a:endParaRPr lang="en-US" sz="1725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8555534" y="4486275"/>
              <a:ext cx="1888629" cy="523875"/>
            </a:xfrm>
            <a:prstGeom prst="rect">
              <a:avLst/>
            </a:prstGeom>
            <a:solidFill>
              <a:srgbClr val="E1946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Text 38"/>
            <p:cNvSpPr/>
            <p:nvPr/>
          </p:nvSpPr>
          <p:spPr>
            <a:xfrm>
              <a:off x="8660309" y="4619625"/>
              <a:ext cx="167907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41,81%</a:t>
              </a:r>
              <a:endParaRPr lang="en-US" sz="1725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10444163" y="4486275"/>
              <a:ext cx="1887736" cy="523875"/>
            </a:xfrm>
            <a:prstGeom prst="rect">
              <a:avLst/>
            </a:prstGeom>
            <a:solidFill>
              <a:srgbClr val="DF8C6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Text 40"/>
            <p:cNvSpPr/>
            <p:nvPr/>
          </p:nvSpPr>
          <p:spPr>
            <a:xfrm>
              <a:off x="10548938" y="4619625"/>
              <a:ext cx="167818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40,60%</a:t>
              </a:r>
              <a:endParaRPr lang="en-US" sz="1725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12331898" y="4486275"/>
              <a:ext cx="1898303" cy="523875"/>
            </a:xfrm>
            <a:prstGeom prst="rect">
              <a:avLst/>
            </a:prstGeom>
            <a:solidFill>
              <a:srgbClr val="F2D28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Text 42"/>
            <p:cNvSpPr/>
            <p:nvPr/>
          </p:nvSpPr>
          <p:spPr>
            <a:xfrm>
              <a:off x="12436673" y="4619625"/>
              <a:ext cx="168875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51,24%</a:t>
              </a:r>
              <a:endParaRPr lang="en-US" sz="1725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14230201" y="4486275"/>
              <a:ext cx="3063180" cy="523875"/>
            </a:xfrm>
            <a:prstGeom prst="rect">
              <a:avLst/>
            </a:prstGeom>
            <a:solidFill>
              <a:srgbClr val="E7A777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Text 44"/>
            <p:cNvSpPr/>
            <p:nvPr/>
          </p:nvSpPr>
          <p:spPr>
            <a:xfrm>
              <a:off x="14327128" y="4619625"/>
              <a:ext cx="286932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44,76%</a:t>
              </a:r>
              <a:endParaRPr lang="en-US" sz="1725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995363" y="5010150"/>
              <a:ext cx="383292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Text 46"/>
            <p:cNvSpPr/>
            <p:nvPr/>
          </p:nvSpPr>
          <p:spPr>
            <a:xfrm>
              <a:off x="1138238" y="5143500"/>
              <a:ext cx="366215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</a:t>
              </a:r>
              <a:endParaRPr lang="en-US" sz="1575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4828282" y="5010150"/>
              <a:ext cx="1846213" cy="523875"/>
            </a:xfrm>
            <a:prstGeom prst="rect">
              <a:avLst/>
            </a:prstGeom>
            <a:solidFill>
              <a:srgbClr val="77B98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Text 48"/>
            <p:cNvSpPr/>
            <p:nvPr/>
          </p:nvSpPr>
          <p:spPr>
            <a:xfrm>
              <a:off x="4933057" y="5143500"/>
              <a:ext cx="16366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69,76%</a:t>
              </a:r>
              <a:endParaRPr lang="en-US" sz="1725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674495" y="5010150"/>
              <a:ext cx="1881039" cy="523875"/>
            </a:xfrm>
            <a:prstGeom prst="rect">
              <a:avLst/>
            </a:prstGeom>
            <a:solidFill>
              <a:srgbClr val="73B88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Text 50"/>
            <p:cNvSpPr/>
            <p:nvPr/>
          </p:nvSpPr>
          <p:spPr>
            <a:xfrm>
              <a:off x="6779270" y="5143500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70,20%</a:t>
              </a:r>
              <a:endParaRPr lang="en-US" sz="1725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8555534" y="5010150"/>
              <a:ext cx="1888629" cy="523875"/>
            </a:xfrm>
            <a:prstGeom prst="rect">
              <a:avLst/>
            </a:prstGeom>
            <a:solidFill>
              <a:srgbClr val="7CBB84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Text 52"/>
            <p:cNvSpPr/>
            <p:nvPr/>
          </p:nvSpPr>
          <p:spPr>
            <a:xfrm>
              <a:off x="8660309" y="5143500"/>
              <a:ext cx="167907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69,08%</a:t>
              </a:r>
              <a:endParaRPr lang="en-US" sz="1725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10444163" y="5010150"/>
              <a:ext cx="1887736" cy="523875"/>
            </a:xfrm>
            <a:prstGeom prst="rect">
              <a:avLst/>
            </a:prstGeom>
            <a:solidFill>
              <a:srgbClr val="6DB68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Text 54"/>
            <p:cNvSpPr/>
            <p:nvPr/>
          </p:nvSpPr>
          <p:spPr>
            <a:xfrm>
              <a:off x="10548938" y="5143500"/>
              <a:ext cx="167818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70,97%</a:t>
              </a:r>
              <a:endParaRPr lang="en-US" sz="1725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12331898" y="5010150"/>
              <a:ext cx="1898303" cy="523875"/>
            </a:xfrm>
            <a:prstGeom prst="rect">
              <a:avLst/>
            </a:prstGeom>
            <a:solidFill>
              <a:srgbClr val="54AD7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Text 56"/>
            <p:cNvSpPr/>
            <p:nvPr/>
          </p:nvSpPr>
          <p:spPr>
            <a:xfrm>
              <a:off x="12436673" y="5143500"/>
              <a:ext cx="168875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74,09%</a:t>
              </a:r>
              <a:endParaRPr lang="en-US" sz="1725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14230201" y="5010150"/>
              <a:ext cx="3063180" cy="523875"/>
            </a:xfrm>
            <a:prstGeom prst="rect">
              <a:avLst/>
            </a:prstGeom>
            <a:solidFill>
              <a:srgbClr val="6DB58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Text 58"/>
            <p:cNvSpPr/>
            <p:nvPr/>
          </p:nvSpPr>
          <p:spPr>
            <a:xfrm>
              <a:off x="14327128" y="5143500"/>
              <a:ext cx="286932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71,02%</a:t>
              </a:r>
              <a:endParaRPr lang="en-US" sz="1725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995363" y="5534025"/>
              <a:ext cx="383292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Text 60"/>
            <p:cNvSpPr/>
            <p:nvPr/>
          </p:nvSpPr>
          <p:spPr>
            <a:xfrm>
              <a:off x="1138238" y="5667375"/>
              <a:ext cx="366215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ZS+AD(min)</a:t>
              </a:r>
              <a:endParaRPr lang="en-US" sz="1575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4828282" y="5534025"/>
              <a:ext cx="1846213" cy="5238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Text 62"/>
            <p:cNvSpPr/>
            <p:nvPr/>
          </p:nvSpPr>
          <p:spPr>
            <a:xfrm>
              <a:off x="4933057" y="5667375"/>
              <a:ext cx="16366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C7CCD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725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6674495" y="5534025"/>
              <a:ext cx="1881039" cy="523875"/>
            </a:xfrm>
            <a:prstGeom prst="rect">
              <a:avLst/>
            </a:prstGeom>
            <a:solidFill>
              <a:srgbClr val="CED69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" name="Text 64"/>
            <p:cNvSpPr/>
            <p:nvPr/>
          </p:nvSpPr>
          <p:spPr>
            <a:xfrm>
              <a:off x="6779270" y="5667375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59,04%</a:t>
              </a:r>
              <a:endParaRPr lang="en-US" sz="1725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8555534" y="5534025"/>
              <a:ext cx="1888629" cy="523875"/>
            </a:xfrm>
            <a:prstGeom prst="rect">
              <a:avLst/>
            </a:prstGeom>
            <a:solidFill>
              <a:srgbClr val="C5D38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" name="Text 66"/>
            <p:cNvSpPr/>
            <p:nvPr/>
          </p:nvSpPr>
          <p:spPr>
            <a:xfrm>
              <a:off x="8660309" y="5667375"/>
              <a:ext cx="167907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60,08%</a:t>
              </a:r>
              <a:endParaRPr lang="en-US" sz="1725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10444163" y="5534025"/>
              <a:ext cx="1887736" cy="523875"/>
            </a:xfrm>
            <a:prstGeom prst="rect">
              <a:avLst/>
            </a:prstGeom>
            <a:solidFill>
              <a:srgbClr val="CBD59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" name="Text 68"/>
            <p:cNvSpPr/>
            <p:nvPr/>
          </p:nvSpPr>
          <p:spPr>
            <a:xfrm>
              <a:off x="10548938" y="5667375"/>
              <a:ext cx="167818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59,35%</a:t>
              </a:r>
              <a:endParaRPr lang="en-US" sz="1725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12331898" y="5534025"/>
              <a:ext cx="1898303" cy="523875"/>
            </a:xfrm>
            <a:prstGeom prst="rect">
              <a:avLst/>
            </a:prstGeom>
            <a:solidFill>
              <a:srgbClr val="9FC68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" name="Text 70"/>
            <p:cNvSpPr/>
            <p:nvPr/>
          </p:nvSpPr>
          <p:spPr>
            <a:xfrm>
              <a:off x="12436673" y="5667375"/>
              <a:ext cx="168875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64,75%</a:t>
              </a:r>
              <a:endParaRPr lang="en-US" sz="1725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14230201" y="5534025"/>
              <a:ext cx="3063180" cy="523875"/>
            </a:xfrm>
            <a:prstGeom prst="rect">
              <a:avLst/>
            </a:prstGeom>
            <a:solidFill>
              <a:srgbClr val="B7CE8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" name="Text 72"/>
            <p:cNvSpPr/>
            <p:nvPr/>
          </p:nvSpPr>
          <p:spPr>
            <a:xfrm>
              <a:off x="14327128" y="5667375"/>
              <a:ext cx="286932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61,85%</a:t>
              </a:r>
              <a:endParaRPr lang="en-US" sz="1725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995363" y="6057900"/>
              <a:ext cx="383292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" name="Text 74"/>
            <p:cNvSpPr/>
            <p:nvPr/>
          </p:nvSpPr>
          <p:spPr>
            <a:xfrm>
              <a:off x="1138238" y="6191250"/>
              <a:ext cx="366215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FS</a:t>
              </a:r>
              <a:endParaRPr lang="en-US" sz="1575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4828282" y="6057900"/>
              <a:ext cx="1846213" cy="523875"/>
            </a:xfrm>
            <a:prstGeom prst="rect">
              <a:avLst/>
            </a:prstGeom>
            <a:solidFill>
              <a:srgbClr val="E2956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" name="Text 76"/>
            <p:cNvSpPr/>
            <p:nvPr/>
          </p:nvSpPr>
          <p:spPr>
            <a:xfrm>
              <a:off x="4933057" y="6191250"/>
              <a:ext cx="16366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41,98%</a:t>
              </a:r>
              <a:endParaRPr lang="en-US" sz="1725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6674495" y="6057900"/>
              <a:ext cx="1881039" cy="523875"/>
            </a:xfrm>
            <a:prstGeom prst="rect">
              <a:avLst/>
            </a:prstGeom>
            <a:solidFill>
              <a:srgbClr val="D3605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" name="Text 78"/>
            <p:cNvSpPr/>
            <p:nvPr/>
          </p:nvSpPr>
          <p:spPr>
            <a:xfrm>
              <a:off x="6779270" y="6191250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34,00%</a:t>
              </a:r>
              <a:endParaRPr lang="en-US" sz="1725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8555534" y="6057900"/>
              <a:ext cx="1888629" cy="523875"/>
            </a:xfrm>
            <a:prstGeom prst="rect">
              <a:avLst/>
            </a:prstGeom>
            <a:solidFill>
              <a:srgbClr val="E1936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" name="Text 80"/>
            <p:cNvSpPr/>
            <p:nvPr/>
          </p:nvSpPr>
          <p:spPr>
            <a:xfrm>
              <a:off x="8660309" y="6191250"/>
              <a:ext cx="167907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41,70%</a:t>
              </a:r>
              <a:endParaRPr lang="en-US" sz="1725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10444163" y="6057900"/>
              <a:ext cx="1887736" cy="523875"/>
            </a:xfrm>
            <a:prstGeom prst="rect">
              <a:avLst/>
            </a:prstGeom>
            <a:solidFill>
              <a:srgbClr val="E3987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" name="Text 82"/>
            <p:cNvSpPr/>
            <p:nvPr/>
          </p:nvSpPr>
          <p:spPr>
            <a:xfrm>
              <a:off x="10548938" y="6191250"/>
              <a:ext cx="167818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42,51%</a:t>
              </a:r>
              <a:endParaRPr lang="en-US" sz="1725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12331898" y="6057900"/>
              <a:ext cx="1898303" cy="523875"/>
            </a:xfrm>
            <a:prstGeom prst="rect">
              <a:avLst/>
            </a:prstGeom>
            <a:solidFill>
              <a:srgbClr val="EFC687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" name="Text 84"/>
            <p:cNvSpPr/>
            <p:nvPr/>
          </p:nvSpPr>
          <p:spPr>
            <a:xfrm>
              <a:off x="12436673" y="6191250"/>
              <a:ext cx="168875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49,39%</a:t>
              </a:r>
              <a:endParaRPr lang="en-US" sz="1725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14230201" y="6057900"/>
              <a:ext cx="3063180" cy="523875"/>
            </a:xfrm>
            <a:prstGeom prst="rect">
              <a:avLst/>
            </a:prstGeom>
            <a:solidFill>
              <a:srgbClr val="E08F6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" name="Text 86"/>
            <p:cNvSpPr/>
            <p:nvPr/>
          </p:nvSpPr>
          <p:spPr>
            <a:xfrm>
              <a:off x="14327128" y="6191250"/>
              <a:ext cx="286932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41,13%</a:t>
              </a:r>
              <a:endParaRPr lang="en-US" sz="1725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995363" y="6581775"/>
              <a:ext cx="383292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" name="Text 88"/>
            <p:cNvSpPr/>
            <p:nvPr/>
          </p:nvSpPr>
          <p:spPr>
            <a:xfrm>
              <a:off x="1138238" y="6715125"/>
              <a:ext cx="366215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</a:t>
              </a:r>
              <a:endParaRPr lang="en-US" sz="1575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4828282" y="6581775"/>
              <a:ext cx="1846213" cy="523875"/>
            </a:xfrm>
            <a:prstGeom prst="rect">
              <a:avLst/>
            </a:prstGeom>
            <a:solidFill>
              <a:srgbClr val="D35E5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" name="Text 90"/>
            <p:cNvSpPr/>
            <p:nvPr/>
          </p:nvSpPr>
          <p:spPr>
            <a:xfrm>
              <a:off x="4933057" y="6715125"/>
              <a:ext cx="16366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33,73%</a:t>
              </a:r>
              <a:endParaRPr lang="en-US" sz="1725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6674495" y="6581775"/>
              <a:ext cx="1881039" cy="523875"/>
            </a:xfrm>
            <a:prstGeom prst="rect">
              <a:avLst/>
            </a:prstGeom>
            <a:solidFill>
              <a:srgbClr val="E6A37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" name="Text 92"/>
            <p:cNvSpPr/>
            <p:nvPr/>
          </p:nvSpPr>
          <p:spPr>
            <a:xfrm>
              <a:off x="6779270" y="6715125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44,13%</a:t>
              </a:r>
              <a:endParaRPr lang="en-US" sz="1725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8555534" y="6581775"/>
              <a:ext cx="1888629" cy="523875"/>
            </a:xfrm>
            <a:prstGeom prst="rect">
              <a:avLst/>
            </a:prstGeom>
            <a:solidFill>
              <a:srgbClr val="E7A777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" name="Text 94"/>
            <p:cNvSpPr/>
            <p:nvPr/>
          </p:nvSpPr>
          <p:spPr>
            <a:xfrm>
              <a:off x="8660309" y="6715125"/>
              <a:ext cx="167907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44,76%</a:t>
              </a:r>
              <a:endParaRPr lang="en-US" sz="1725" dirty="0"/>
            </a:p>
          </p:txBody>
        </p:sp>
        <p:sp>
          <p:nvSpPr>
            <p:cNvPr id="97" name="Shape 95"/>
            <p:cNvSpPr/>
            <p:nvPr/>
          </p:nvSpPr>
          <p:spPr>
            <a:xfrm>
              <a:off x="10444163" y="6581775"/>
              <a:ext cx="1887736" cy="523875"/>
            </a:xfrm>
            <a:prstGeom prst="rect">
              <a:avLst/>
            </a:prstGeom>
            <a:solidFill>
              <a:srgbClr val="EBB88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" name="Text 96"/>
            <p:cNvSpPr/>
            <p:nvPr/>
          </p:nvSpPr>
          <p:spPr>
            <a:xfrm>
              <a:off x="10548938" y="6715125"/>
              <a:ext cx="167818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47,35%</a:t>
              </a:r>
              <a:endParaRPr lang="en-US" sz="1725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12331898" y="6581775"/>
              <a:ext cx="1898303" cy="523875"/>
            </a:xfrm>
            <a:prstGeom prst="rect">
              <a:avLst/>
            </a:prstGeom>
            <a:solidFill>
              <a:srgbClr val="F2D28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" name="Text 98"/>
            <p:cNvSpPr/>
            <p:nvPr/>
          </p:nvSpPr>
          <p:spPr>
            <a:xfrm>
              <a:off x="12436673" y="6715125"/>
              <a:ext cx="168875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51,22%</a:t>
              </a:r>
              <a:endParaRPr lang="en-US" sz="1725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14230201" y="6581775"/>
              <a:ext cx="3063180" cy="523875"/>
            </a:xfrm>
            <a:prstGeom prst="rect">
              <a:avLst/>
            </a:prstGeom>
            <a:solidFill>
              <a:srgbClr val="ECBB8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" name="Text 100"/>
            <p:cNvSpPr/>
            <p:nvPr/>
          </p:nvSpPr>
          <p:spPr>
            <a:xfrm>
              <a:off x="14327128" y="6715125"/>
              <a:ext cx="286932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47,79%</a:t>
              </a:r>
              <a:endParaRPr lang="en-US" sz="1725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995363" y="7105650"/>
              <a:ext cx="3832920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" name="Text 102"/>
            <p:cNvSpPr/>
            <p:nvPr/>
          </p:nvSpPr>
          <p:spPr>
            <a:xfrm>
              <a:off x="1138238" y="7239000"/>
              <a:ext cx="366215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ZS+RP+AD(min)</a:t>
              </a:r>
              <a:endParaRPr lang="en-US" sz="1575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4828282" y="7105650"/>
              <a:ext cx="1846213" cy="523875"/>
            </a:xfrm>
            <a:prstGeom prst="rect">
              <a:avLst/>
            </a:prstGeom>
            <a:solidFill>
              <a:srgbClr val="D9DA9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6" name="Text 104"/>
            <p:cNvSpPr/>
            <p:nvPr/>
          </p:nvSpPr>
          <p:spPr>
            <a:xfrm>
              <a:off x="4933057" y="7239000"/>
              <a:ext cx="163666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57,68%</a:t>
              </a:r>
              <a:endParaRPr lang="en-US" sz="1725" dirty="0"/>
            </a:p>
          </p:txBody>
        </p:sp>
        <p:sp>
          <p:nvSpPr>
            <p:cNvPr id="107" name="Shape 105"/>
            <p:cNvSpPr/>
            <p:nvPr/>
          </p:nvSpPr>
          <p:spPr>
            <a:xfrm>
              <a:off x="6674495" y="7105650"/>
              <a:ext cx="1881039" cy="523875"/>
            </a:xfrm>
            <a:prstGeom prst="rect">
              <a:avLst/>
            </a:prstGeom>
            <a:solidFill>
              <a:srgbClr val="ECE094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8" name="Text 106"/>
            <p:cNvSpPr/>
            <p:nvPr/>
          </p:nvSpPr>
          <p:spPr>
            <a:xfrm>
              <a:off x="6779270" y="7239000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55,28%</a:t>
              </a:r>
              <a:endParaRPr lang="en-US" sz="1725" dirty="0"/>
            </a:p>
          </p:txBody>
        </p:sp>
        <p:sp>
          <p:nvSpPr>
            <p:cNvPr id="109" name="Shape 107"/>
            <p:cNvSpPr/>
            <p:nvPr/>
          </p:nvSpPr>
          <p:spPr>
            <a:xfrm>
              <a:off x="8555534" y="7105650"/>
              <a:ext cx="1888629" cy="523875"/>
            </a:xfrm>
            <a:prstGeom prst="rect">
              <a:avLst/>
            </a:prstGeom>
            <a:solidFill>
              <a:srgbClr val="D3D89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0" name="Text 108"/>
            <p:cNvSpPr/>
            <p:nvPr/>
          </p:nvSpPr>
          <p:spPr>
            <a:xfrm>
              <a:off x="8660309" y="7239000"/>
              <a:ext cx="167907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58,40%</a:t>
              </a:r>
              <a:endParaRPr lang="en-US" sz="1725" dirty="0"/>
            </a:p>
          </p:txBody>
        </p:sp>
        <p:sp>
          <p:nvSpPr>
            <p:cNvPr id="111" name="Shape 109"/>
            <p:cNvSpPr/>
            <p:nvPr/>
          </p:nvSpPr>
          <p:spPr>
            <a:xfrm>
              <a:off x="10444163" y="7105650"/>
              <a:ext cx="1887736" cy="523875"/>
            </a:xfrm>
            <a:prstGeom prst="rect">
              <a:avLst/>
            </a:prstGeom>
            <a:solidFill>
              <a:srgbClr val="E3DD9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2" name="Text 110"/>
            <p:cNvSpPr/>
            <p:nvPr/>
          </p:nvSpPr>
          <p:spPr>
            <a:xfrm>
              <a:off x="10548938" y="7239000"/>
              <a:ext cx="167818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56,33%</a:t>
              </a:r>
              <a:endParaRPr lang="en-US" sz="1725" dirty="0"/>
            </a:p>
          </p:txBody>
        </p:sp>
        <p:sp>
          <p:nvSpPr>
            <p:cNvPr id="113" name="Shape 111"/>
            <p:cNvSpPr/>
            <p:nvPr/>
          </p:nvSpPr>
          <p:spPr>
            <a:xfrm>
              <a:off x="12331898" y="7105650"/>
              <a:ext cx="1898303" cy="523875"/>
            </a:xfrm>
            <a:prstGeom prst="rect">
              <a:avLst/>
            </a:prstGeom>
            <a:solidFill>
              <a:srgbClr val="D0D79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4" name="Text 112"/>
            <p:cNvSpPr/>
            <p:nvPr/>
          </p:nvSpPr>
          <p:spPr>
            <a:xfrm>
              <a:off x="12436673" y="7239000"/>
              <a:ext cx="168875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58,70%</a:t>
              </a:r>
              <a:endParaRPr lang="en-US" sz="1725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14230201" y="7105650"/>
              <a:ext cx="3063180" cy="523875"/>
            </a:xfrm>
            <a:prstGeom prst="rect">
              <a:avLst/>
            </a:prstGeom>
            <a:solidFill>
              <a:srgbClr val="E2DD9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6" name="Text 114"/>
            <p:cNvSpPr/>
            <p:nvPr/>
          </p:nvSpPr>
          <p:spPr>
            <a:xfrm>
              <a:off x="14327128" y="7239000"/>
              <a:ext cx="286932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56,56%</a:t>
              </a:r>
              <a:endParaRPr lang="en-US" sz="1725" dirty="0"/>
            </a:p>
          </p:txBody>
        </p:sp>
        <p:sp>
          <p:nvSpPr>
            <p:cNvPr id="117" name="Text 115"/>
            <p:cNvSpPr/>
            <p:nvPr/>
          </p:nvSpPr>
          <p:spPr>
            <a:xfrm>
              <a:off x="990600" y="7843838"/>
              <a:ext cx="16796004" cy="3333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650" b="1" dirty="0">
                  <a:solidFill>
                    <a:srgbClr val="5B647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Recall. </a:t>
              </a:r>
              <a:r>
                <a:rPr lang="en-US" sz="1650" dirty="0">
                  <a:solidFill>
                    <a:srgbClr val="5B647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Von allen wirklich hateful Memes — wie viele findet das Modell. Rot = niedrig, Grün = hoch; bester Wert hervorgehoben.</a:t>
              </a:r>
              <a:endParaRPr lang="en-US" sz="1650" dirty="0"/>
            </a:p>
          </p:txBody>
        </p:sp>
      </p:grpSp>
      <p:sp>
        <p:nvSpPr>
          <p:cNvPr id="121" name="Textfeld 120">
            <a:extLst>
              <a:ext uri="{FF2B5EF4-FFF2-40B4-BE49-F238E27FC236}">
                <a16:creationId xmlns:a16="http://schemas.microsoft.com/office/drawing/2014/main" id="{1FED2B8E-4DE6-970D-6817-F7A23E7C18B4}"/>
              </a:ext>
            </a:extLst>
          </p:cNvPr>
          <p:cNvSpPr txBox="1"/>
          <p:nvPr/>
        </p:nvSpPr>
        <p:spPr>
          <a:xfrm>
            <a:off x="990600" y="7610296"/>
            <a:ext cx="16383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 aussagekräftigste Maß, riesige Spanne von </a:t>
            </a:r>
            <a:r>
              <a:rPr lang="de-DE" altLang="de-DE" sz="2400" b="1" dirty="0">
                <a:latin typeface="Arial" panose="020B0604020202020204" pitchFamily="34" charset="0"/>
              </a:rPr>
              <a:t>33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bis 74%, klar getrieben von der Phase 1 Qualität</a:t>
            </a:r>
            <a:b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Bestwert 74,1% bei ZS+AD mit 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ZS+CoT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reines ZS übersieht dagegen rund zwei Drittel der 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hatefulen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Memes</a:t>
            </a: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de-DE" altLang="de-DE" sz="2400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Größtes Delta in Phase 2 bei ZS+RP+AD von 19 %, hier wirkt PE am meisten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35465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ERGEBNISSE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354658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029658" y="1009650"/>
            <a:ext cx="3439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D7604537-BDAF-E13B-C608-B41133BC2922}"/>
              </a:ext>
            </a:extLst>
          </p:cNvPr>
          <p:cNvGrpSpPr/>
          <p:nvPr/>
        </p:nvGrpSpPr>
        <p:grpSpPr>
          <a:xfrm>
            <a:off x="990600" y="2522719"/>
            <a:ext cx="16796004" cy="4710113"/>
            <a:chOff x="990600" y="3467100"/>
            <a:chExt cx="16796004" cy="4710113"/>
          </a:xfrm>
        </p:grpSpPr>
        <p:sp>
          <p:nvSpPr>
            <p:cNvPr id="5" name="Shape 3"/>
            <p:cNvSpPr/>
            <p:nvPr/>
          </p:nvSpPr>
          <p:spPr>
            <a:xfrm>
              <a:off x="995363" y="3467100"/>
              <a:ext cx="3844082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Text 4"/>
            <p:cNvSpPr/>
            <p:nvPr/>
          </p:nvSpPr>
          <p:spPr>
            <a:xfrm>
              <a:off x="1138238" y="3600450"/>
              <a:ext cx="3673654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1 ↓ / Phase 2 →</a:t>
              </a:r>
              <a:endParaRPr lang="en-US" sz="1575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839444" y="3467100"/>
              <a:ext cx="1863477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4944219" y="3600450"/>
              <a:ext cx="1653927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</a:t>
              </a:r>
              <a:endParaRPr lang="en-US" sz="1575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702921" y="3467100"/>
              <a:ext cx="1880592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 8"/>
            <p:cNvSpPr/>
            <p:nvPr/>
          </p:nvSpPr>
          <p:spPr>
            <a:xfrm>
              <a:off x="6807696" y="3600450"/>
              <a:ext cx="1671042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FS</a:t>
              </a:r>
              <a:endParaRPr lang="en-US" sz="1575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583513" y="3467100"/>
              <a:ext cx="1881039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 10"/>
            <p:cNvSpPr/>
            <p:nvPr/>
          </p:nvSpPr>
          <p:spPr>
            <a:xfrm>
              <a:off x="8688288" y="3600450"/>
              <a:ext cx="167148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</a:t>
              </a:r>
              <a:endParaRPr lang="en-US" sz="1575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464552" y="3467100"/>
              <a:ext cx="1867644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Text 12"/>
            <p:cNvSpPr/>
            <p:nvPr/>
          </p:nvSpPr>
          <p:spPr>
            <a:xfrm>
              <a:off x="10569327" y="3600450"/>
              <a:ext cx="1658094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</a:t>
              </a:r>
              <a:endParaRPr lang="en-US" sz="1575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2332196" y="3467100"/>
              <a:ext cx="1888778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 14"/>
            <p:cNvSpPr/>
            <p:nvPr/>
          </p:nvSpPr>
          <p:spPr>
            <a:xfrm>
              <a:off x="12436971" y="3600450"/>
              <a:ext cx="1679228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ZS+CoT</a:t>
              </a:r>
              <a:endParaRPr lang="en-US" sz="1575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4220974" y="3467100"/>
              <a:ext cx="3072110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Text 16"/>
            <p:cNvSpPr/>
            <p:nvPr/>
          </p:nvSpPr>
          <p:spPr>
            <a:xfrm>
              <a:off x="14317767" y="3600450"/>
              <a:ext cx="2878523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ZS+RP+AD+CoT</a:t>
              </a:r>
              <a:endParaRPr lang="en-US" sz="1575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95363" y="3962400"/>
              <a:ext cx="3844082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Text 18"/>
            <p:cNvSpPr/>
            <p:nvPr/>
          </p:nvSpPr>
          <p:spPr>
            <a:xfrm>
              <a:off x="1138238" y="4095750"/>
              <a:ext cx="367365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</a:t>
              </a:r>
              <a:endParaRPr lang="en-US" sz="1575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839444" y="3962400"/>
              <a:ext cx="1863477" cy="523875"/>
            </a:xfrm>
            <a:prstGeom prst="rect">
              <a:avLst/>
            </a:prstGeom>
            <a:solidFill>
              <a:srgbClr val="DB7B6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Text 20"/>
            <p:cNvSpPr/>
            <p:nvPr/>
          </p:nvSpPr>
          <p:spPr>
            <a:xfrm>
              <a:off x="4944219" y="4095750"/>
              <a:ext cx="165392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47,57%</a:t>
              </a:r>
              <a:endParaRPr lang="en-US" sz="1725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702921" y="3962400"/>
              <a:ext cx="1880592" cy="523875"/>
            </a:xfrm>
            <a:prstGeom prst="rect">
              <a:avLst/>
            </a:prstGeom>
            <a:solidFill>
              <a:srgbClr val="DF8C6A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Text 22"/>
            <p:cNvSpPr/>
            <p:nvPr/>
          </p:nvSpPr>
          <p:spPr>
            <a:xfrm>
              <a:off x="6807696" y="4095750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48,99%</a:t>
              </a:r>
              <a:endParaRPr lang="en-US" sz="1725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8583513" y="3962400"/>
              <a:ext cx="1881039" cy="523875"/>
            </a:xfrm>
            <a:prstGeom prst="rect">
              <a:avLst/>
            </a:prstGeom>
            <a:solidFill>
              <a:srgbClr val="D8705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Text 24"/>
            <p:cNvSpPr/>
            <p:nvPr/>
          </p:nvSpPr>
          <p:spPr>
            <a:xfrm>
              <a:off x="8688288" y="4095750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46,59%</a:t>
              </a:r>
              <a:endParaRPr lang="en-US" sz="1725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0464552" y="3962400"/>
              <a:ext cx="1867644" cy="523875"/>
            </a:xfrm>
            <a:prstGeom prst="rect">
              <a:avLst/>
            </a:prstGeom>
            <a:solidFill>
              <a:srgbClr val="DC7F6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Text 26"/>
            <p:cNvSpPr/>
            <p:nvPr/>
          </p:nvSpPr>
          <p:spPr>
            <a:xfrm>
              <a:off x="10569327" y="4095750"/>
              <a:ext cx="165809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47,89%</a:t>
              </a:r>
              <a:endParaRPr lang="en-US" sz="1725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12332196" y="3962400"/>
              <a:ext cx="1888778" cy="523875"/>
            </a:xfrm>
            <a:prstGeom prst="rect">
              <a:avLst/>
            </a:prstGeom>
            <a:solidFill>
              <a:srgbClr val="EAB37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Text 28"/>
            <p:cNvSpPr/>
            <p:nvPr/>
          </p:nvSpPr>
          <p:spPr>
            <a:xfrm>
              <a:off x="12436971" y="4095750"/>
              <a:ext cx="167922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52,26%</a:t>
              </a:r>
              <a:endParaRPr lang="en-US" sz="1725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4220974" y="3962400"/>
              <a:ext cx="3072110" cy="523875"/>
            </a:xfrm>
            <a:prstGeom prst="rect">
              <a:avLst/>
            </a:prstGeom>
            <a:solidFill>
              <a:srgbClr val="D8725C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Text 30"/>
            <p:cNvSpPr/>
            <p:nvPr/>
          </p:nvSpPr>
          <p:spPr>
            <a:xfrm>
              <a:off x="14317767" y="4095750"/>
              <a:ext cx="28785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46,75%</a:t>
              </a:r>
              <a:endParaRPr lang="en-US" sz="1725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95363" y="4486275"/>
              <a:ext cx="3844082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Text 32"/>
            <p:cNvSpPr/>
            <p:nvPr/>
          </p:nvSpPr>
          <p:spPr>
            <a:xfrm>
              <a:off x="1138238" y="4619625"/>
              <a:ext cx="367365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</a:t>
              </a:r>
              <a:endParaRPr lang="en-US" sz="1575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839444" y="4486275"/>
              <a:ext cx="1863477" cy="523875"/>
            </a:xfrm>
            <a:prstGeom prst="rect">
              <a:avLst/>
            </a:prstGeom>
            <a:solidFill>
              <a:srgbClr val="E6A677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Text 34"/>
            <p:cNvSpPr/>
            <p:nvPr/>
          </p:nvSpPr>
          <p:spPr>
            <a:xfrm>
              <a:off x="4944219" y="4619625"/>
              <a:ext cx="165392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51,16%</a:t>
              </a:r>
              <a:endParaRPr lang="en-US" sz="1725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6702921" y="4486275"/>
              <a:ext cx="1880592" cy="523875"/>
            </a:xfrm>
            <a:prstGeom prst="rect">
              <a:avLst/>
            </a:prstGeom>
            <a:solidFill>
              <a:srgbClr val="D9755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Text 36"/>
            <p:cNvSpPr/>
            <p:nvPr/>
          </p:nvSpPr>
          <p:spPr>
            <a:xfrm>
              <a:off x="6807696" y="4619625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47,00%</a:t>
              </a:r>
              <a:endParaRPr lang="en-US" sz="1725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8583513" y="4486275"/>
              <a:ext cx="1881039" cy="523875"/>
            </a:xfrm>
            <a:prstGeom prst="rect">
              <a:avLst/>
            </a:prstGeom>
            <a:solidFill>
              <a:srgbClr val="E6A37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Text 38"/>
            <p:cNvSpPr/>
            <p:nvPr/>
          </p:nvSpPr>
          <p:spPr>
            <a:xfrm>
              <a:off x="8688288" y="4619625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50,92%</a:t>
              </a:r>
              <a:endParaRPr lang="en-US" sz="1725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10464552" y="4486275"/>
              <a:ext cx="1867644" cy="523875"/>
            </a:xfrm>
            <a:prstGeom prst="rect">
              <a:avLst/>
            </a:prstGeom>
            <a:solidFill>
              <a:srgbClr val="E39A7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Text 40"/>
            <p:cNvSpPr/>
            <p:nvPr/>
          </p:nvSpPr>
          <p:spPr>
            <a:xfrm>
              <a:off x="10569327" y="4619625"/>
              <a:ext cx="165809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50,13%</a:t>
              </a:r>
              <a:endParaRPr lang="en-US" sz="1725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12332196" y="4486275"/>
              <a:ext cx="1888778" cy="523875"/>
            </a:xfrm>
            <a:prstGeom prst="rect">
              <a:avLst/>
            </a:prstGeom>
            <a:solidFill>
              <a:srgbClr val="F7E29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Text 42"/>
            <p:cNvSpPr/>
            <p:nvPr/>
          </p:nvSpPr>
          <p:spPr>
            <a:xfrm>
              <a:off x="12436971" y="4619625"/>
              <a:ext cx="167922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56,24%</a:t>
              </a:r>
              <a:endParaRPr lang="en-US" sz="1725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14220974" y="4486275"/>
              <a:ext cx="3072110" cy="523875"/>
            </a:xfrm>
            <a:prstGeom prst="rect">
              <a:avLst/>
            </a:prstGeom>
            <a:solidFill>
              <a:srgbClr val="EAB47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Text 44"/>
            <p:cNvSpPr/>
            <p:nvPr/>
          </p:nvSpPr>
          <p:spPr>
            <a:xfrm>
              <a:off x="14317767" y="4619625"/>
              <a:ext cx="28785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52,36%</a:t>
              </a:r>
              <a:endParaRPr lang="en-US" sz="1725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995363" y="5010150"/>
              <a:ext cx="3844082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Text 46"/>
            <p:cNvSpPr/>
            <p:nvPr/>
          </p:nvSpPr>
          <p:spPr>
            <a:xfrm>
              <a:off x="1138238" y="5143500"/>
              <a:ext cx="367365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</a:t>
              </a:r>
              <a:endParaRPr lang="en-US" sz="1575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4839444" y="5010150"/>
              <a:ext cx="1863477" cy="523875"/>
            </a:xfrm>
            <a:prstGeom prst="rect">
              <a:avLst/>
            </a:prstGeom>
            <a:solidFill>
              <a:srgbClr val="68B48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Text 48"/>
            <p:cNvSpPr/>
            <p:nvPr/>
          </p:nvSpPr>
          <p:spPr>
            <a:xfrm>
              <a:off x="4944219" y="5143500"/>
              <a:ext cx="165392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66,28%</a:t>
              </a:r>
              <a:endParaRPr lang="en-US" sz="1725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702921" y="5010150"/>
              <a:ext cx="1880592" cy="523875"/>
            </a:xfrm>
            <a:prstGeom prst="rect">
              <a:avLst/>
            </a:prstGeom>
            <a:solidFill>
              <a:srgbClr val="6AB48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Text 50"/>
            <p:cNvSpPr/>
            <p:nvPr/>
          </p:nvSpPr>
          <p:spPr>
            <a:xfrm>
              <a:off x="6807696" y="5143500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66,15%</a:t>
              </a:r>
              <a:endParaRPr lang="en-US" sz="1725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8583513" y="5010150"/>
              <a:ext cx="1881039" cy="523875"/>
            </a:xfrm>
            <a:prstGeom prst="rect">
              <a:avLst/>
            </a:prstGeom>
            <a:solidFill>
              <a:srgbClr val="6DB68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Text 52"/>
            <p:cNvSpPr/>
            <p:nvPr/>
          </p:nvSpPr>
          <p:spPr>
            <a:xfrm>
              <a:off x="8688288" y="5143500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65,90%</a:t>
              </a:r>
              <a:endParaRPr lang="en-US" sz="1725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10464552" y="5010150"/>
              <a:ext cx="1867644" cy="523875"/>
            </a:xfrm>
            <a:prstGeom prst="rect">
              <a:avLst/>
            </a:prstGeom>
            <a:solidFill>
              <a:srgbClr val="60B18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Text 54"/>
            <p:cNvSpPr/>
            <p:nvPr/>
          </p:nvSpPr>
          <p:spPr>
            <a:xfrm>
              <a:off x="10569327" y="5143500"/>
              <a:ext cx="165809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66,79%</a:t>
              </a:r>
              <a:endParaRPr lang="en-US" sz="1725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12332196" y="5010150"/>
              <a:ext cx="1888778" cy="523875"/>
            </a:xfrm>
            <a:prstGeom prst="rect">
              <a:avLst/>
            </a:prstGeom>
            <a:solidFill>
              <a:srgbClr val="54AD7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Text 56"/>
            <p:cNvSpPr/>
            <p:nvPr/>
          </p:nvSpPr>
          <p:spPr>
            <a:xfrm>
              <a:off x="12436971" y="5143500"/>
              <a:ext cx="167922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67,65%</a:t>
              </a:r>
              <a:endParaRPr lang="en-US" sz="1725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14220974" y="5010150"/>
              <a:ext cx="3072110" cy="523875"/>
            </a:xfrm>
            <a:prstGeom prst="rect">
              <a:avLst/>
            </a:prstGeom>
            <a:solidFill>
              <a:srgbClr val="66B38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Text 58"/>
            <p:cNvSpPr/>
            <p:nvPr/>
          </p:nvSpPr>
          <p:spPr>
            <a:xfrm>
              <a:off x="14317767" y="5143500"/>
              <a:ext cx="28785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66,41%</a:t>
              </a:r>
              <a:endParaRPr lang="en-US" sz="1725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995363" y="5534025"/>
              <a:ext cx="3844082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Text 60"/>
            <p:cNvSpPr/>
            <p:nvPr/>
          </p:nvSpPr>
          <p:spPr>
            <a:xfrm>
              <a:off x="1138238" y="5667375"/>
              <a:ext cx="367365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ZS+AD(min)</a:t>
              </a:r>
              <a:endParaRPr lang="en-US" sz="1575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4839444" y="5534025"/>
              <a:ext cx="1863477" cy="5238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Text 62"/>
            <p:cNvSpPr/>
            <p:nvPr/>
          </p:nvSpPr>
          <p:spPr>
            <a:xfrm>
              <a:off x="4944219" y="5667375"/>
              <a:ext cx="165392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C7CCD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725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6702921" y="5534025"/>
              <a:ext cx="1880592" cy="523875"/>
            </a:xfrm>
            <a:prstGeom prst="rect">
              <a:avLst/>
            </a:prstGeom>
            <a:solidFill>
              <a:srgbClr val="A1C78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" name="Text 64"/>
            <p:cNvSpPr/>
            <p:nvPr/>
          </p:nvSpPr>
          <p:spPr>
            <a:xfrm>
              <a:off x="6807696" y="5667375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62,29%</a:t>
              </a:r>
              <a:endParaRPr lang="en-US" sz="1725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8583513" y="5534025"/>
              <a:ext cx="1881039" cy="523875"/>
            </a:xfrm>
            <a:prstGeom prst="rect">
              <a:avLst/>
            </a:prstGeom>
            <a:solidFill>
              <a:srgbClr val="ACCB8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" name="Text 66"/>
            <p:cNvSpPr/>
            <p:nvPr/>
          </p:nvSpPr>
          <p:spPr>
            <a:xfrm>
              <a:off x="8688288" y="5667375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61,57%</a:t>
              </a:r>
              <a:endParaRPr lang="en-US" sz="1725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10464552" y="5534025"/>
              <a:ext cx="1867644" cy="523875"/>
            </a:xfrm>
            <a:prstGeom prst="rect">
              <a:avLst/>
            </a:prstGeom>
            <a:solidFill>
              <a:srgbClr val="9AC588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" name="Text 68"/>
            <p:cNvSpPr/>
            <p:nvPr/>
          </p:nvSpPr>
          <p:spPr>
            <a:xfrm>
              <a:off x="10569327" y="5667375"/>
              <a:ext cx="165809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62,80%</a:t>
              </a:r>
              <a:endParaRPr lang="en-US" sz="1725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12332196" y="5534025"/>
              <a:ext cx="1888778" cy="523875"/>
            </a:xfrm>
            <a:prstGeom prst="rect">
              <a:avLst/>
            </a:prstGeom>
            <a:solidFill>
              <a:srgbClr val="89BF86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" name="Text 70"/>
            <p:cNvSpPr/>
            <p:nvPr/>
          </p:nvSpPr>
          <p:spPr>
            <a:xfrm>
              <a:off x="12436971" y="5667375"/>
              <a:ext cx="167922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63,97%</a:t>
              </a:r>
              <a:endParaRPr lang="en-US" sz="1725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14220974" y="5534025"/>
              <a:ext cx="3072110" cy="523875"/>
            </a:xfrm>
            <a:prstGeom prst="rect">
              <a:avLst/>
            </a:prstGeom>
            <a:solidFill>
              <a:srgbClr val="8CC086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" name="Text 72"/>
            <p:cNvSpPr/>
            <p:nvPr/>
          </p:nvSpPr>
          <p:spPr>
            <a:xfrm>
              <a:off x="14317767" y="5667375"/>
              <a:ext cx="28785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63,77%</a:t>
              </a:r>
              <a:endParaRPr lang="en-US" sz="1725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995363" y="6057900"/>
              <a:ext cx="3844082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" name="Text 74"/>
            <p:cNvSpPr/>
            <p:nvPr/>
          </p:nvSpPr>
          <p:spPr>
            <a:xfrm>
              <a:off x="1138238" y="6191250"/>
              <a:ext cx="367365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FS</a:t>
              </a:r>
              <a:endParaRPr lang="en-US" sz="1575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4839444" y="6057900"/>
              <a:ext cx="1863477" cy="523875"/>
            </a:xfrm>
            <a:prstGeom prst="rect">
              <a:avLst/>
            </a:prstGeom>
            <a:solidFill>
              <a:srgbClr val="E9B17C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" name="Text 76"/>
            <p:cNvSpPr/>
            <p:nvPr/>
          </p:nvSpPr>
          <p:spPr>
            <a:xfrm>
              <a:off x="4944219" y="6191250"/>
              <a:ext cx="165392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52,04%</a:t>
              </a:r>
              <a:endParaRPr lang="en-US" sz="1725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6702921" y="6057900"/>
              <a:ext cx="1880592" cy="523875"/>
            </a:xfrm>
            <a:prstGeom prst="rect">
              <a:avLst/>
            </a:prstGeom>
            <a:solidFill>
              <a:srgbClr val="D35E5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" name="Text 78"/>
            <p:cNvSpPr/>
            <p:nvPr/>
          </p:nvSpPr>
          <p:spPr>
            <a:xfrm>
              <a:off x="6807696" y="6191250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45,09%</a:t>
              </a:r>
              <a:endParaRPr lang="en-US" sz="1725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8583513" y="6057900"/>
              <a:ext cx="1881039" cy="523875"/>
            </a:xfrm>
            <a:prstGeom prst="rect">
              <a:avLst/>
            </a:prstGeom>
            <a:solidFill>
              <a:srgbClr val="E6A576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" name="Text 80"/>
            <p:cNvSpPr/>
            <p:nvPr/>
          </p:nvSpPr>
          <p:spPr>
            <a:xfrm>
              <a:off x="8688288" y="6191250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51,04%</a:t>
              </a:r>
              <a:endParaRPr lang="en-US" sz="1725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10464552" y="6057900"/>
              <a:ext cx="1867644" cy="523875"/>
            </a:xfrm>
            <a:prstGeom prst="rect">
              <a:avLst/>
            </a:prstGeom>
            <a:solidFill>
              <a:srgbClr val="E6A47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" name="Text 82"/>
            <p:cNvSpPr/>
            <p:nvPr/>
          </p:nvSpPr>
          <p:spPr>
            <a:xfrm>
              <a:off x="10569327" y="6191250"/>
              <a:ext cx="165809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50,97%</a:t>
              </a:r>
              <a:endParaRPr lang="en-US" sz="1725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12332196" y="6057900"/>
              <a:ext cx="1888778" cy="523875"/>
            </a:xfrm>
            <a:prstGeom prst="rect">
              <a:avLst/>
            </a:prstGeom>
            <a:solidFill>
              <a:srgbClr val="F2D08C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" name="Text 84"/>
            <p:cNvSpPr/>
            <p:nvPr/>
          </p:nvSpPr>
          <p:spPr>
            <a:xfrm>
              <a:off x="12436971" y="6191250"/>
              <a:ext cx="167922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54,71%</a:t>
              </a:r>
              <a:endParaRPr lang="en-US" sz="1725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14220974" y="6057900"/>
              <a:ext cx="3072110" cy="523875"/>
            </a:xfrm>
            <a:prstGeom prst="rect">
              <a:avLst/>
            </a:prstGeom>
            <a:solidFill>
              <a:srgbClr val="E08E6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" name="Text 86"/>
            <p:cNvSpPr/>
            <p:nvPr/>
          </p:nvSpPr>
          <p:spPr>
            <a:xfrm>
              <a:off x="14317767" y="6191250"/>
              <a:ext cx="28785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49,16%</a:t>
              </a:r>
              <a:endParaRPr lang="en-US" sz="1725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995363" y="6581775"/>
              <a:ext cx="3844082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" name="Text 88"/>
            <p:cNvSpPr/>
            <p:nvPr/>
          </p:nvSpPr>
          <p:spPr>
            <a:xfrm>
              <a:off x="1138238" y="6715125"/>
              <a:ext cx="367365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</a:t>
              </a:r>
              <a:endParaRPr lang="en-US" sz="1575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4839444" y="6581775"/>
              <a:ext cx="1863477" cy="523875"/>
            </a:xfrm>
            <a:prstGeom prst="rect">
              <a:avLst/>
            </a:prstGeom>
            <a:solidFill>
              <a:srgbClr val="D4635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" name="Text 90"/>
            <p:cNvSpPr/>
            <p:nvPr/>
          </p:nvSpPr>
          <p:spPr>
            <a:xfrm>
              <a:off x="4944219" y="6715125"/>
              <a:ext cx="165392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45,53%</a:t>
              </a:r>
              <a:endParaRPr lang="en-US" sz="1725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6702921" y="6581775"/>
              <a:ext cx="1880592" cy="523875"/>
            </a:xfrm>
            <a:prstGeom prst="rect">
              <a:avLst/>
            </a:prstGeom>
            <a:solidFill>
              <a:srgbClr val="E9AF7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" name="Text 92"/>
            <p:cNvSpPr/>
            <p:nvPr/>
          </p:nvSpPr>
          <p:spPr>
            <a:xfrm>
              <a:off x="6807696" y="6715125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51,90%</a:t>
              </a:r>
              <a:endParaRPr lang="en-US" sz="1725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8583513" y="6581775"/>
              <a:ext cx="1881039" cy="523875"/>
            </a:xfrm>
            <a:prstGeom prst="rect">
              <a:avLst/>
            </a:prstGeom>
            <a:solidFill>
              <a:srgbClr val="E9B17C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" name="Text 94"/>
            <p:cNvSpPr/>
            <p:nvPr/>
          </p:nvSpPr>
          <p:spPr>
            <a:xfrm>
              <a:off x="8688288" y="6715125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52,11%</a:t>
              </a:r>
              <a:endParaRPr lang="en-US" sz="1725" dirty="0"/>
            </a:p>
          </p:txBody>
        </p:sp>
        <p:sp>
          <p:nvSpPr>
            <p:cNvPr id="97" name="Shape 95"/>
            <p:cNvSpPr/>
            <p:nvPr/>
          </p:nvSpPr>
          <p:spPr>
            <a:xfrm>
              <a:off x="10464552" y="6581775"/>
              <a:ext cx="1867644" cy="523875"/>
            </a:xfrm>
            <a:prstGeom prst="rect">
              <a:avLst/>
            </a:prstGeom>
            <a:solidFill>
              <a:srgbClr val="EEC184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" name="Text 96"/>
            <p:cNvSpPr/>
            <p:nvPr/>
          </p:nvSpPr>
          <p:spPr>
            <a:xfrm>
              <a:off x="10569327" y="6715125"/>
              <a:ext cx="165809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53,46%</a:t>
              </a:r>
              <a:endParaRPr lang="en-US" sz="1725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12332196" y="6581775"/>
              <a:ext cx="1888778" cy="523875"/>
            </a:xfrm>
            <a:prstGeom prst="rect">
              <a:avLst/>
            </a:prstGeom>
            <a:solidFill>
              <a:srgbClr val="F3D78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" name="Text 98"/>
            <p:cNvSpPr/>
            <p:nvPr/>
          </p:nvSpPr>
          <p:spPr>
            <a:xfrm>
              <a:off x="12436971" y="6715125"/>
              <a:ext cx="167922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55,26%</a:t>
              </a:r>
              <a:endParaRPr lang="en-US" sz="1725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14220974" y="6581775"/>
              <a:ext cx="3072110" cy="523875"/>
            </a:xfrm>
            <a:prstGeom prst="rect">
              <a:avLst/>
            </a:prstGeom>
            <a:solidFill>
              <a:srgbClr val="EFC586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" name="Text 100"/>
            <p:cNvSpPr/>
            <p:nvPr/>
          </p:nvSpPr>
          <p:spPr>
            <a:xfrm>
              <a:off x="14317767" y="6715125"/>
              <a:ext cx="28785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53,72%</a:t>
              </a:r>
              <a:endParaRPr lang="en-US" sz="1725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995363" y="7105650"/>
              <a:ext cx="3844082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" name="Text 102"/>
            <p:cNvSpPr/>
            <p:nvPr/>
          </p:nvSpPr>
          <p:spPr>
            <a:xfrm>
              <a:off x="1138238" y="7239000"/>
              <a:ext cx="367365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ZS+RP+AD(min)</a:t>
              </a:r>
              <a:endParaRPr lang="en-US" sz="1575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4839444" y="7105650"/>
              <a:ext cx="1863477" cy="523875"/>
            </a:xfrm>
            <a:prstGeom prst="rect">
              <a:avLst/>
            </a:prstGeom>
            <a:solidFill>
              <a:srgbClr val="B3CD8C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6" name="Text 104"/>
            <p:cNvSpPr/>
            <p:nvPr/>
          </p:nvSpPr>
          <p:spPr>
            <a:xfrm>
              <a:off x="4944219" y="7239000"/>
              <a:ext cx="165392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61,10%</a:t>
              </a:r>
              <a:endParaRPr lang="en-US" sz="1725" dirty="0"/>
            </a:p>
          </p:txBody>
        </p:sp>
        <p:sp>
          <p:nvSpPr>
            <p:cNvPr id="107" name="Shape 105"/>
            <p:cNvSpPr/>
            <p:nvPr/>
          </p:nvSpPr>
          <p:spPr>
            <a:xfrm>
              <a:off x="6702921" y="7105650"/>
              <a:ext cx="1880592" cy="523875"/>
            </a:xfrm>
            <a:prstGeom prst="rect">
              <a:avLst/>
            </a:prstGeom>
            <a:solidFill>
              <a:srgbClr val="C8D48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8" name="Text 106"/>
            <p:cNvSpPr/>
            <p:nvPr/>
          </p:nvSpPr>
          <p:spPr>
            <a:xfrm>
              <a:off x="6807696" y="7239000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59,65%</a:t>
              </a:r>
              <a:endParaRPr lang="en-US" sz="1725" dirty="0"/>
            </a:p>
          </p:txBody>
        </p:sp>
        <p:sp>
          <p:nvSpPr>
            <p:cNvPr id="109" name="Shape 107"/>
            <p:cNvSpPr/>
            <p:nvPr/>
          </p:nvSpPr>
          <p:spPr>
            <a:xfrm>
              <a:off x="8583513" y="7105650"/>
              <a:ext cx="1881039" cy="523875"/>
            </a:xfrm>
            <a:prstGeom prst="rect">
              <a:avLst/>
            </a:prstGeom>
            <a:solidFill>
              <a:srgbClr val="AFCC8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0" name="Text 108"/>
            <p:cNvSpPr/>
            <p:nvPr/>
          </p:nvSpPr>
          <p:spPr>
            <a:xfrm>
              <a:off x="8688288" y="7239000"/>
              <a:ext cx="167148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61,34%</a:t>
              </a:r>
              <a:endParaRPr lang="en-US" sz="1725" dirty="0"/>
            </a:p>
          </p:txBody>
        </p:sp>
        <p:sp>
          <p:nvSpPr>
            <p:cNvPr id="111" name="Shape 109"/>
            <p:cNvSpPr/>
            <p:nvPr/>
          </p:nvSpPr>
          <p:spPr>
            <a:xfrm>
              <a:off x="10464552" y="7105650"/>
              <a:ext cx="1867644" cy="523875"/>
            </a:xfrm>
            <a:prstGeom prst="rect">
              <a:avLst/>
            </a:prstGeom>
            <a:solidFill>
              <a:srgbClr val="BFD18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2" name="Text 110"/>
            <p:cNvSpPr/>
            <p:nvPr/>
          </p:nvSpPr>
          <p:spPr>
            <a:xfrm>
              <a:off x="10569327" y="7239000"/>
              <a:ext cx="165809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60,26%</a:t>
              </a:r>
              <a:endParaRPr lang="en-US" sz="1725" dirty="0"/>
            </a:p>
          </p:txBody>
        </p:sp>
        <p:sp>
          <p:nvSpPr>
            <p:cNvPr id="113" name="Shape 111"/>
            <p:cNvSpPr/>
            <p:nvPr/>
          </p:nvSpPr>
          <p:spPr>
            <a:xfrm>
              <a:off x="12332196" y="7105650"/>
              <a:ext cx="1888778" cy="523875"/>
            </a:xfrm>
            <a:prstGeom prst="rect">
              <a:avLst/>
            </a:prstGeom>
            <a:solidFill>
              <a:srgbClr val="B5CE8C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4" name="Text 112"/>
            <p:cNvSpPr/>
            <p:nvPr/>
          </p:nvSpPr>
          <p:spPr>
            <a:xfrm>
              <a:off x="12436971" y="7239000"/>
              <a:ext cx="167922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60,92%</a:t>
              </a:r>
              <a:endParaRPr lang="en-US" sz="1725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14220974" y="7105650"/>
              <a:ext cx="3072110" cy="523875"/>
            </a:xfrm>
            <a:prstGeom prst="rect">
              <a:avLst/>
            </a:prstGeom>
            <a:solidFill>
              <a:srgbClr val="D5D99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6" name="Text 114"/>
            <p:cNvSpPr/>
            <p:nvPr/>
          </p:nvSpPr>
          <p:spPr>
            <a:xfrm>
              <a:off x="14317767" y="7239000"/>
              <a:ext cx="2878523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58,72%</a:t>
              </a:r>
              <a:endParaRPr lang="en-US" sz="1725" dirty="0"/>
            </a:p>
          </p:txBody>
        </p:sp>
        <p:sp>
          <p:nvSpPr>
            <p:cNvPr id="117" name="Text 115"/>
            <p:cNvSpPr/>
            <p:nvPr/>
          </p:nvSpPr>
          <p:spPr>
            <a:xfrm>
              <a:off x="990600" y="7843838"/>
              <a:ext cx="16796004" cy="3333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650" b="1" dirty="0">
                  <a:solidFill>
                    <a:srgbClr val="5B647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F1. </a:t>
              </a:r>
              <a:r>
                <a:rPr lang="en-US" sz="1650" dirty="0">
                  <a:solidFill>
                    <a:srgbClr val="5B647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Eine Mischung aus Precision und Recall, beide gleich wichtig. Rot = niedrig, Grün = hoch; bester Wert hervorgehoben.</a:t>
              </a:r>
              <a:endParaRPr lang="en-US" sz="1650" dirty="0"/>
            </a:p>
          </p:txBody>
        </p:sp>
      </p:grpSp>
      <p:sp>
        <p:nvSpPr>
          <p:cNvPr id="121" name="Textfeld 120">
            <a:extLst>
              <a:ext uri="{FF2B5EF4-FFF2-40B4-BE49-F238E27FC236}">
                <a16:creationId xmlns:a16="http://schemas.microsoft.com/office/drawing/2014/main" id="{285EB6D9-BA87-B3B8-A261-2369DD813803}"/>
              </a:ext>
            </a:extLst>
          </p:cNvPr>
          <p:cNvSpPr txBox="1"/>
          <p:nvPr/>
        </p:nvSpPr>
        <p:spPr>
          <a:xfrm>
            <a:off x="990600" y="7434644"/>
            <a:ext cx="152158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Bestwert 67,7% bei ZS+AD mit 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ZS+CoT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stark von der Beschreibungsqualität bestimmt (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gleich 0,97)</a:t>
            </a:r>
            <a:b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Folgt eng der 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fasst aber die Precision Recall Balance besser zusammen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90600"/>
            <a:ext cx="35465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ERGEBNISSE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76375"/>
            <a:ext cx="354658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7029658" y="1009650"/>
            <a:ext cx="3439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A4BE0539-EA3A-752B-E69F-1E17AD707D80}"/>
              </a:ext>
            </a:extLst>
          </p:cNvPr>
          <p:cNvGrpSpPr/>
          <p:nvPr/>
        </p:nvGrpSpPr>
        <p:grpSpPr>
          <a:xfrm>
            <a:off x="990600" y="2447768"/>
            <a:ext cx="16796004" cy="4710113"/>
            <a:chOff x="990600" y="3467100"/>
            <a:chExt cx="16796004" cy="4710113"/>
          </a:xfrm>
        </p:grpSpPr>
        <p:sp>
          <p:nvSpPr>
            <p:cNvPr id="5" name="Shape 3"/>
            <p:cNvSpPr/>
            <p:nvPr/>
          </p:nvSpPr>
          <p:spPr>
            <a:xfrm>
              <a:off x="995363" y="3467100"/>
              <a:ext cx="3830836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Text 4"/>
            <p:cNvSpPr/>
            <p:nvPr/>
          </p:nvSpPr>
          <p:spPr>
            <a:xfrm>
              <a:off x="1138238" y="3600450"/>
              <a:ext cx="3660011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1 ↓ / Phase 2 →</a:t>
              </a:r>
              <a:endParaRPr lang="en-US" sz="1575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826198" y="3467100"/>
              <a:ext cx="1883420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4930973" y="3600450"/>
              <a:ext cx="1673870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</a:t>
              </a:r>
              <a:endParaRPr lang="en-US" sz="1575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709618" y="3467100"/>
              <a:ext cx="1880592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 8"/>
            <p:cNvSpPr/>
            <p:nvPr/>
          </p:nvSpPr>
          <p:spPr>
            <a:xfrm>
              <a:off x="6814393" y="3600450"/>
              <a:ext cx="1671042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FS</a:t>
              </a:r>
              <a:endParaRPr lang="en-US" sz="1575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590211" y="3467100"/>
              <a:ext cx="1883718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 10"/>
            <p:cNvSpPr/>
            <p:nvPr/>
          </p:nvSpPr>
          <p:spPr>
            <a:xfrm>
              <a:off x="8694986" y="3600450"/>
              <a:ext cx="1674168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</a:t>
              </a:r>
              <a:endParaRPr lang="en-US" sz="1575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473928" y="3467100"/>
              <a:ext cx="1878806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Text 12"/>
            <p:cNvSpPr/>
            <p:nvPr/>
          </p:nvSpPr>
          <p:spPr>
            <a:xfrm>
              <a:off x="10578703" y="3600450"/>
              <a:ext cx="1669256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</a:t>
              </a:r>
              <a:endParaRPr lang="en-US" sz="1575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2352734" y="3467100"/>
              <a:ext cx="1878806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 14"/>
            <p:cNvSpPr/>
            <p:nvPr/>
          </p:nvSpPr>
          <p:spPr>
            <a:xfrm>
              <a:off x="12457509" y="3600450"/>
              <a:ext cx="1669256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ZS+CoT</a:t>
              </a:r>
              <a:endParaRPr lang="en-US" sz="1575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4231541" y="3467100"/>
              <a:ext cx="3061543" cy="495300"/>
            </a:xfrm>
            <a:prstGeom prst="rect">
              <a:avLst/>
            </a:prstGeom>
            <a:solidFill>
              <a:srgbClr val="16191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Text 16"/>
            <p:cNvSpPr/>
            <p:nvPr/>
          </p:nvSpPr>
          <p:spPr>
            <a:xfrm>
              <a:off x="14328492" y="3600450"/>
              <a:ext cx="2867640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ZS+RP+AD+CoT</a:t>
              </a:r>
              <a:endParaRPr lang="en-US" sz="1575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95363" y="3962400"/>
              <a:ext cx="383083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Text 18"/>
            <p:cNvSpPr/>
            <p:nvPr/>
          </p:nvSpPr>
          <p:spPr>
            <a:xfrm>
              <a:off x="1138238" y="4095750"/>
              <a:ext cx="36600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</a:t>
              </a:r>
              <a:endParaRPr lang="en-US" sz="1575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826198" y="3962400"/>
              <a:ext cx="1883420" cy="523875"/>
            </a:xfrm>
            <a:prstGeom prst="rect">
              <a:avLst/>
            </a:prstGeom>
            <a:solidFill>
              <a:srgbClr val="D86F5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Text 20"/>
            <p:cNvSpPr/>
            <p:nvPr/>
          </p:nvSpPr>
          <p:spPr>
            <a:xfrm>
              <a:off x="4930973" y="4095750"/>
              <a:ext cx="167387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39,82%</a:t>
              </a:r>
              <a:endParaRPr lang="en-US" sz="1725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709618" y="3962400"/>
              <a:ext cx="1880592" cy="523875"/>
            </a:xfrm>
            <a:prstGeom prst="rect">
              <a:avLst/>
            </a:prstGeom>
            <a:solidFill>
              <a:srgbClr val="DD8365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Text 22"/>
            <p:cNvSpPr/>
            <p:nvPr/>
          </p:nvSpPr>
          <p:spPr>
            <a:xfrm>
              <a:off x="6814393" y="4095750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42,32%</a:t>
              </a:r>
              <a:endParaRPr lang="en-US" sz="1725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8590211" y="3962400"/>
              <a:ext cx="1883718" cy="523875"/>
            </a:xfrm>
            <a:prstGeom prst="rect">
              <a:avLst/>
            </a:prstGeom>
            <a:solidFill>
              <a:srgbClr val="D66A58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Text 24"/>
            <p:cNvSpPr/>
            <p:nvPr/>
          </p:nvSpPr>
          <p:spPr>
            <a:xfrm>
              <a:off x="8694986" y="4095750"/>
              <a:ext cx="167416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39,12%</a:t>
              </a:r>
              <a:endParaRPr lang="en-US" sz="1725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0473928" y="3962400"/>
              <a:ext cx="1878806" cy="523875"/>
            </a:xfrm>
            <a:prstGeom prst="rect">
              <a:avLst/>
            </a:prstGeom>
            <a:solidFill>
              <a:srgbClr val="D9755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Text 26"/>
            <p:cNvSpPr/>
            <p:nvPr/>
          </p:nvSpPr>
          <p:spPr>
            <a:xfrm>
              <a:off x="10578703" y="4095750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40,48%</a:t>
              </a:r>
              <a:endParaRPr lang="en-US" sz="1725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12352734" y="3962400"/>
              <a:ext cx="1878806" cy="523875"/>
            </a:xfrm>
            <a:prstGeom prst="rect">
              <a:avLst/>
            </a:prstGeom>
            <a:solidFill>
              <a:srgbClr val="E9B17C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Text 28"/>
            <p:cNvSpPr/>
            <p:nvPr/>
          </p:nvSpPr>
          <p:spPr>
            <a:xfrm>
              <a:off x="12457509" y="4095750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48,08%</a:t>
              </a:r>
              <a:endParaRPr lang="en-US" sz="1725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4231541" y="3962400"/>
              <a:ext cx="3061543" cy="523875"/>
            </a:xfrm>
            <a:prstGeom prst="rect">
              <a:avLst/>
            </a:prstGeom>
            <a:solidFill>
              <a:srgbClr val="D8715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Text 30"/>
            <p:cNvSpPr/>
            <p:nvPr/>
          </p:nvSpPr>
          <p:spPr>
            <a:xfrm>
              <a:off x="14328492" y="4095750"/>
              <a:ext cx="286764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39,96%</a:t>
              </a:r>
              <a:endParaRPr lang="en-US" sz="1725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95363" y="4486275"/>
              <a:ext cx="383083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Text 32"/>
            <p:cNvSpPr/>
            <p:nvPr/>
          </p:nvSpPr>
          <p:spPr>
            <a:xfrm>
              <a:off x="1138238" y="4619625"/>
              <a:ext cx="36600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</a:t>
              </a:r>
              <a:endParaRPr lang="en-US" sz="1575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826198" y="4486275"/>
              <a:ext cx="1883420" cy="523875"/>
            </a:xfrm>
            <a:prstGeom prst="rect">
              <a:avLst/>
            </a:prstGeom>
            <a:solidFill>
              <a:srgbClr val="E39B7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Text 34"/>
            <p:cNvSpPr/>
            <p:nvPr/>
          </p:nvSpPr>
          <p:spPr>
            <a:xfrm>
              <a:off x="4930973" y="4619625"/>
              <a:ext cx="167387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45,33%</a:t>
              </a:r>
              <a:endParaRPr lang="en-US" sz="1725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6709618" y="4486275"/>
              <a:ext cx="1880592" cy="523875"/>
            </a:xfrm>
            <a:prstGeom prst="rect">
              <a:avLst/>
            </a:prstGeom>
            <a:solidFill>
              <a:srgbClr val="DA796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Text 36"/>
            <p:cNvSpPr/>
            <p:nvPr/>
          </p:nvSpPr>
          <p:spPr>
            <a:xfrm>
              <a:off x="6814393" y="4619625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41,08%</a:t>
              </a:r>
              <a:endParaRPr lang="en-US" sz="1725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8590211" y="4486275"/>
              <a:ext cx="1883718" cy="523875"/>
            </a:xfrm>
            <a:prstGeom prst="rect">
              <a:avLst/>
            </a:prstGeom>
            <a:solidFill>
              <a:srgbClr val="E3997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Text 38"/>
            <p:cNvSpPr/>
            <p:nvPr/>
          </p:nvSpPr>
          <p:spPr>
            <a:xfrm>
              <a:off x="8694986" y="4619625"/>
              <a:ext cx="167416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45,03%</a:t>
              </a:r>
              <a:endParaRPr lang="en-US" sz="1725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10473928" y="4486275"/>
              <a:ext cx="1878806" cy="523875"/>
            </a:xfrm>
            <a:prstGeom prst="rect">
              <a:avLst/>
            </a:prstGeom>
            <a:solidFill>
              <a:srgbClr val="E0906B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Text 40"/>
            <p:cNvSpPr/>
            <p:nvPr/>
          </p:nvSpPr>
          <p:spPr>
            <a:xfrm>
              <a:off x="10578703" y="4619625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43,94%</a:t>
              </a:r>
              <a:endParaRPr lang="en-US" sz="1725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12352734" y="4486275"/>
              <a:ext cx="1878806" cy="523875"/>
            </a:xfrm>
            <a:prstGeom prst="rect">
              <a:avLst/>
            </a:prstGeom>
            <a:solidFill>
              <a:srgbClr val="F4D99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Text 42"/>
            <p:cNvSpPr/>
            <p:nvPr/>
          </p:nvSpPr>
          <p:spPr>
            <a:xfrm>
              <a:off x="12457509" y="4619625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53,13%</a:t>
              </a:r>
              <a:endParaRPr lang="en-US" sz="1725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14231541" y="4486275"/>
              <a:ext cx="3061543" cy="523875"/>
            </a:xfrm>
            <a:prstGeom prst="rect">
              <a:avLst/>
            </a:prstGeom>
            <a:solidFill>
              <a:srgbClr val="E8AD7A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Text 44"/>
            <p:cNvSpPr/>
            <p:nvPr/>
          </p:nvSpPr>
          <p:spPr>
            <a:xfrm>
              <a:off x="14328492" y="4619625"/>
              <a:ext cx="286764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47,52%</a:t>
              </a:r>
              <a:endParaRPr lang="en-US" sz="1725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995363" y="5010150"/>
              <a:ext cx="383083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Text 46"/>
            <p:cNvSpPr/>
            <p:nvPr/>
          </p:nvSpPr>
          <p:spPr>
            <a:xfrm>
              <a:off x="1138238" y="5143500"/>
              <a:ext cx="36600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</a:t>
              </a:r>
              <a:endParaRPr lang="en-US" sz="1575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4826198" y="5010150"/>
              <a:ext cx="1883420" cy="523875"/>
            </a:xfrm>
            <a:prstGeom prst="rect">
              <a:avLst/>
            </a:prstGeom>
            <a:solidFill>
              <a:srgbClr val="71B78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Text 48"/>
            <p:cNvSpPr/>
            <p:nvPr/>
          </p:nvSpPr>
          <p:spPr>
            <a:xfrm>
              <a:off x="4930973" y="5143500"/>
              <a:ext cx="167387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68,33%</a:t>
              </a:r>
              <a:endParaRPr lang="en-US" sz="1725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709618" y="5010150"/>
              <a:ext cx="1880592" cy="523875"/>
            </a:xfrm>
            <a:prstGeom prst="rect">
              <a:avLst/>
            </a:prstGeom>
            <a:solidFill>
              <a:srgbClr val="6FB68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Text 50"/>
            <p:cNvSpPr/>
            <p:nvPr/>
          </p:nvSpPr>
          <p:spPr>
            <a:xfrm>
              <a:off x="6814393" y="5143500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68,53%</a:t>
              </a:r>
              <a:endParaRPr lang="en-US" sz="1725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8590211" y="5010150"/>
              <a:ext cx="1883718" cy="523875"/>
            </a:xfrm>
            <a:prstGeom prst="rect">
              <a:avLst/>
            </a:prstGeom>
            <a:solidFill>
              <a:srgbClr val="77B98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Text 52"/>
            <p:cNvSpPr/>
            <p:nvPr/>
          </p:nvSpPr>
          <p:spPr>
            <a:xfrm>
              <a:off x="8694986" y="5143500"/>
              <a:ext cx="167416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67,77%</a:t>
              </a:r>
              <a:endParaRPr lang="en-US" sz="1725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10473928" y="5010150"/>
              <a:ext cx="1878806" cy="523875"/>
            </a:xfrm>
            <a:prstGeom prst="rect">
              <a:avLst/>
            </a:prstGeom>
            <a:solidFill>
              <a:srgbClr val="69B48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Text 54"/>
            <p:cNvSpPr/>
            <p:nvPr/>
          </p:nvSpPr>
          <p:spPr>
            <a:xfrm>
              <a:off x="10578703" y="5143500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69,24%</a:t>
              </a:r>
              <a:endParaRPr lang="en-US" sz="1725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12352734" y="5010150"/>
              <a:ext cx="1878806" cy="523875"/>
            </a:xfrm>
            <a:prstGeom prst="rect">
              <a:avLst/>
            </a:prstGeom>
            <a:solidFill>
              <a:srgbClr val="54AD7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Text 56"/>
            <p:cNvSpPr/>
            <p:nvPr/>
          </p:nvSpPr>
          <p:spPr>
            <a:xfrm>
              <a:off x="12457509" y="5143500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71,37%</a:t>
              </a:r>
              <a:endParaRPr lang="en-US" sz="1725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14231541" y="5010150"/>
              <a:ext cx="3061543" cy="523875"/>
            </a:xfrm>
            <a:prstGeom prst="rect">
              <a:avLst/>
            </a:prstGeom>
            <a:solidFill>
              <a:srgbClr val="6AB48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Text 58"/>
            <p:cNvSpPr/>
            <p:nvPr/>
          </p:nvSpPr>
          <p:spPr>
            <a:xfrm>
              <a:off x="14328492" y="5143500"/>
              <a:ext cx="286764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69,10%</a:t>
              </a:r>
              <a:endParaRPr lang="en-US" sz="1725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995363" y="5534025"/>
              <a:ext cx="383083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Text 60"/>
            <p:cNvSpPr/>
            <p:nvPr/>
          </p:nvSpPr>
          <p:spPr>
            <a:xfrm>
              <a:off x="1138238" y="5667375"/>
              <a:ext cx="36600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ZS+AD(min)</a:t>
              </a:r>
              <a:endParaRPr lang="en-US" sz="1575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4826198" y="5534025"/>
              <a:ext cx="1883420" cy="5238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Text 62"/>
            <p:cNvSpPr/>
            <p:nvPr/>
          </p:nvSpPr>
          <p:spPr>
            <a:xfrm>
              <a:off x="4930973" y="5667375"/>
              <a:ext cx="167387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C7CCD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725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6709618" y="5534025"/>
              <a:ext cx="1880592" cy="523875"/>
            </a:xfrm>
            <a:prstGeom prst="rect">
              <a:avLst/>
            </a:prstGeom>
            <a:solidFill>
              <a:srgbClr val="BFD18E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" name="Text 64"/>
            <p:cNvSpPr/>
            <p:nvPr/>
          </p:nvSpPr>
          <p:spPr>
            <a:xfrm>
              <a:off x="6814393" y="5667375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60,30%</a:t>
              </a:r>
              <a:endParaRPr lang="en-US" sz="1725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8590211" y="5534025"/>
              <a:ext cx="1883718" cy="523875"/>
            </a:xfrm>
            <a:prstGeom prst="rect">
              <a:avLst/>
            </a:prstGeom>
            <a:solidFill>
              <a:srgbClr val="BBD08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" name="Text 66"/>
            <p:cNvSpPr/>
            <p:nvPr/>
          </p:nvSpPr>
          <p:spPr>
            <a:xfrm>
              <a:off x="8694986" y="5667375"/>
              <a:ext cx="167416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60,67%</a:t>
              </a:r>
              <a:endParaRPr lang="en-US" sz="1725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10473928" y="5534025"/>
              <a:ext cx="1878806" cy="523875"/>
            </a:xfrm>
            <a:prstGeom prst="rect">
              <a:avLst/>
            </a:prstGeom>
            <a:solidFill>
              <a:srgbClr val="BBD08D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" name="Text 68"/>
            <p:cNvSpPr/>
            <p:nvPr/>
          </p:nvSpPr>
          <p:spPr>
            <a:xfrm>
              <a:off x="10578703" y="5667375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60,68%</a:t>
              </a:r>
              <a:endParaRPr lang="en-US" sz="1725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12352734" y="5534025"/>
              <a:ext cx="1878806" cy="523875"/>
            </a:xfrm>
            <a:prstGeom prst="rect">
              <a:avLst/>
            </a:prstGeom>
            <a:solidFill>
              <a:srgbClr val="97C488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" name="Text 70"/>
            <p:cNvSpPr/>
            <p:nvPr/>
          </p:nvSpPr>
          <p:spPr>
            <a:xfrm>
              <a:off x="12457509" y="5667375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64,44%</a:t>
              </a:r>
              <a:endParaRPr lang="en-US" sz="1725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14231541" y="5534025"/>
              <a:ext cx="3061543" cy="523875"/>
            </a:xfrm>
            <a:prstGeom prst="rect">
              <a:avLst/>
            </a:prstGeom>
            <a:solidFill>
              <a:srgbClr val="A9CA8A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" name="Text 72"/>
            <p:cNvSpPr/>
            <p:nvPr/>
          </p:nvSpPr>
          <p:spPr>
            <a:xfrm>
              <a:off x="14328492" y="5667375"/>
              <a:ext cx="286764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62,60%</a:t>
              </a:r>
              <a:endParaRPr lang="en-US" sz="1725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995363" y="6057900"/>
              <a:ext cx="383083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" name="Text 74"/>
            <p:cNvSpPr/>
            <p:nvPr/>
          </p:nvSpPr>
          <p:spPr>
            <a:xfrm>
              <a:off x="1138238" y="6191250"/>
              <a:ext cx="36600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FS</a:t>
              </a:r>
              <a:endParaRPr lang="en-US" sz="1575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4826198" y="6057900"/>
              <a:ext cx="1883420" cy="523875"/>
            </a:xfrm>
            <a:prstGeom prst="rect">
              <a:avLst/>
            </a:prstGeom>
            <a:solidFill>
              <a:srgbClr val="E49D7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" name="Text 76"/>
            <p:cNvSpPr/>
            <p:nvPr/>
          </p:nvSpPr>
          <p:spPr>
            <a:xfrm>
              <a:off x="4930973" y="6191250"/>
              <a:ext cx="167387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45,50%</a:t>
              </a:r>
              <a:endParaRPr lang="en-US" sz="1725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6709618" y="6057900"/>
              <a:ext cx="1880592" cy="523875"/>
            </a:xfrm>
            <a:prstGeom prst="rect">
              <a:avLst/>
            </a:prstGeom>
            <a:solidFill>
              <a:srgbClr val="D35F5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" name="Text 78"/>
            <p:cNvSpPr/>
            <p:nvPr/>
          </p:nvSpPr>
          <p:spPr>
            <a:xfrm>
              <a:off x="6814393" y="6191250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37,71%</a:t>
              </a:r>
              <a:endParaRPr lang="en-US" sz="1725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8590211" y="6057900"/>
              <a:ext cx="1883718" cy="523875"/>
            </a:xfrm>
            <a:prstGeom prst="rect">
              <a:avLst/>
            </a:prstGeom>
            <a:solidFill>
              <a:srgbClr val="E3997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" name="Text 80"/>
            <p:cNvSpPr/>
            <p:nvPr/>
          </p:nvSpPr>
          <p:spPr>
            <a:xfrm>
              <a:off x="8694986" y="6191250"/>
              <a:ext cx="167416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45,00%</a:t>
              </a:r>
              <a:endParaRPr lang="en-US" sz="1725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10473928" y="6057900"/>
              <a:ext cx="1878806" cy="523875"/>
            </a:xfrm>
            <a:prstGeom prst="rect">
              <a:avLst/>
            </a:prstGeom>
            <a:solidFill>
              <a:srgbClr val="E49D7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" name="Text 82"/>
            <p:cNvSpPr/>
            <p:nvPr/>
          </p:nvSpPr>
          <p:spPr>
            <a:xfrm>
              <a:off x="10578703" y="6191250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45,53%</a:t>
              </a:r>
              <a:endParaRPr lang="en-US" sz="1725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12352734" y="6057900"/>
              <a:ext cx="1878806" cy="523875"/>
            </a:xfrm>
            <a:prstGeom prst="rect">
              <a:avLst/>
            </a:prstGeom>
            <a:solidFill>
              <a:srgbClr val="F0CB8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" name="Text 84"/>
            <p:cNvSpPr/>
            <p:nvPr/>
          </p:nvSpPr>
          <p:spPr>
            <a:xfrm>
              <a:off x="12457509" y="6191250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51,39%</a:t>
              </a:r>
              <a:endParaRPr lang="en-US" sz="1725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14231541" y="6057900"/>
              <a:ext cx="3061543" cy="523875"/>
            </a:xfrm>
            <a:prstGeom prst="rect">
              <a:avLst/>
            </a:prstGeom>
            <a:solidFill>
              <a:srgbClr val="E1916C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" name="Text 86"/>
            <p:cNvSpPr/>
            <p:nvPr/>
          </p:nvSpPr>
          <p:spPr>
            <a:xfrm>
              <a:off x="14328492" y="6191250"/>
              <a:ext cx="286764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44,01%</a:t>
              </a:r>
              <a:endParaRPr lang="en-US" sz="1725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995363" y="6581775"/>
              <a:ext cx="383083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" name="Text 88"/>
            <p:cNvSpPr/>
            <p:nvPr/>
          </p:nvSpPr>
          <p:spPr>
            <a:xfrm>
              <a:off x="1138238" y="6715125"/>
              <a:ext cx="36600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</a:t>
              </a:r>
              <a:endParaRPr lang="en-US" sz="1575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4826198" y="6581775"/>
              <a:ext cx="1883420" cy="523875"/>
            </a:xfrm>
            <a:prstGeom prst="rect">
              <a:avLst/>
            </a:prstGeom>
            <a:solidFill>
              <a:srgbClr val="D35E5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" name="Text 90"/>
            <p:cNvSpPr/>
            <p:nvPr/>
          </p:nvSpPr>
          <p:spPr>
            <a:xfrm>
              <a:off x="4930973" y="6715125"/>
              <a:ext cx="167387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37,63%</a:t>
              </a:r>
              <a:endParaRPr lang="en-US" sz="1725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6709618" y="6581775"/>
              <a:ext cx="1880592" cy="523875"/>
            </a:xfrm>
            <a:prstGeom prst="rect">
              <a:avLst/>
            </a:prstGeom>
            <a:solidFill>
              <a:srgbClr val="E7A878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" name="Text 92"/>
            <p:cNvSpPr/>
            <p:nvPr/>
          </p:nvSpPr>
          <p:spPr>
            <a:xfrm>
              <a:off x="6814393" y="6715125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46,94%</a:t>
              </a:r>
              <a:endParaRPr lang="en-US" sz="1725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8590211" y="6581775"/>
              <a:ext cx="1883718" cy="523875"/>
            </a:xfrm>
            <a:prstGeom prst="rect">
              <a:avLst/>
            </a:prstGeom>
            <a:solidFill>
              <a:srgbClr val="E8AC7A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" name="Text 94"/>
            <p:cNvSpPr/>
            <p:nvPr/>
          </p:nvSpPr>
          <p:spPr>
            <a:xfrm>
              <a:off x="8694986" y="6715125"/>
              <a:ext cx="167416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47,44%</a:t>
              </a:r>
              <a:endParaRPr lang="en-US" sz="1725" dirty="0"/>
            </a:p>
          </p:txBody>
        </p:sp>
        <p:sp>
          <p:nvSpPr>
            <p:cNvPr id="97" name="Shape 95"/>
            <p:cNvSpPr/>
            <p:nvPr/>
          </p:nvSpPr>
          <p:spPr>
            <a:xfrm>
              <a:off x="10473928" y="6581775"/>
              <a:ext cx="1878806" cy="523875"/>
            </a:xfrm>
            <a:prstGeom prst="rect">
              <a:avLst/>
            </a:prstGeom>
            <a:solidFill>
              <a:srgbClr val="EDBD8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" name="Text 96"/>
            <p:cNvSpPr/>
            <p:nvPr/>
          </p:nvSpPr>
          <p:spPr>
            <a:xfrm>
              <a:off x="10578703" y="6715125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49,62%</a:t>
              </a:r>
              <a:endParaRPr lang="en-US" sz="1725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12352734" y="6581775"/>
              <a:ext cx="1878806" cy="523875"/>
            </a:xfrm>
            <a:prstGeom prst="rect">
              <a:avLst/>
            </a:prstGeom>
            <a:solidFill>
              <a:srgbClr val="F3D68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" name="Text 98"/>
            <p:cNvSpPr/>
            <p:nvPr/>
          </p:nvSpPr>
          <p:spPr>
            <a:xfrm>
              <a:off x="12457509" y="6715125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52,76%</a:t>
              </a:r>
              <a:endParaRPr lang="en-US" sz="1725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14231541" y="6581775"/>
              <a:ext cx="3061543" cy="523875"/>
            </a:xfrm>
            <a:prstGeom prst="rect">
              <a:avLst/>
            </a:prstGeom>
            <a:solidFill>
              <a:srgbClr val="EDC084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" name="Text 100"/>
            <p:cNvSpPr/>
            <p:nvPr/>
          </p:nvSpPr>
          <p:spPr>
            <a:xfrm>
              <a:off x="14328492" y="6715125"/>
              <a:ext cx="286764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50,12%</a:t>
              </a:r>
              <a:endParaRPr lang="en-US" sz="1725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995363" y="7105650"/>
              <a:ext cx="3830836" cy="523875"/>
            </a:xfrm>
            <a:prstGeom prst="rect">
              <a:avLst/>
            </a:prstGeom>
            <a:solidFill>
              <a:srgbClr val="F4F6F9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" name="Text 102"/>
            <p:cNvSpPr/>
            <p:nvPr/>
          </p:nvSpPr>
          <p:spPr>
            <a:xfrm>
              <a:off x="1138238" y="7239000"/>
              <a:ext cx="366001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ZS+RP+AD(min)</a:t>
              </a:r>
              <a:endParaRPr lang="en-US" sz="1575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4826198" y="7105650"/>
              <a:ext cx="1883420" cy="523875"/>
            </a:xfrm>
            <a:prstGeom prst="rect">
              <a:avLst/>
            </a:prstGeom>
            <a:solidFill>
              <a:srgbClr val="CCD590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6" name="Text 104"/>
            <p:cNvSpPr/>
            <p:nvPr/>
          </p:nvSpPr>
          <p:spPr>
            <a:xfrm>
              <a:off x="4930973" y="7239000"/>
              <a:ext cx="167387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59,00%</a:t>
              </a:r>
              <a:endParaRPr lang="en-US" sz="1725" dirty="0"/>
            </a:p>
          </p:txBody>
        </p:sp>
        <p:sp>
          <p:nvSpPr>
            <p:cNvPr id="107" name="Shape 105"/>
            <p:cNvSpPr/>
            <p:nvPr/>
          </p:nvSpPr>
          <p:spPr>
            <a:xfrm>
              <a:off x="6709618" y="7105650"/>
              <a:ext cx="1880592" cy="523875"/>
            </a:xfrm>
            <a:prstGeom prst="rect">
              <a:avLst/>
            </a:prstGeom>
            <a:solidFill>
              <a:srgbClr val="DFDC93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8" name="Text 106"/>
            <p:cNvSpPr/>
            <p:nvPr/>
          </p:nvSpPr>
          <p:spPr>
            <a:xfrm>
              <a:off x="6814393" y="7239000"/>
              <a:ext cx="1671042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56,95%</a:t>
              </a:r>
              <a:endParaRPr lang="en-US" sz="1725" dirty="0"/>
            </a:p>
          </p:txBody>
        </p:sp>
        <p:sp>
          <p:nvSpPr>
            <p:cNvPr id="109" name="Shape 107"/>
            <p:cNvSpPr/>
            <p:nvPr/>
          </p:nvSpPr>
          <p:spPr>
            <a:xfrm>
              <a:off x="8590211" y="7105650"/>
              <a:ext cx="1883718" cy="523875"/>
            </a:xfrm>
            <a:prstGeom prst="rect">
              <a:avLst/>
            </a:prstGeom>
            <a:solidFill>
              <a:srgbClr val="C6D48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0" name="Text 108"/>
            <p:cNvSpPr/>
            <p:nvPr/>
          </p:nvSpPr>
          <p:spPr>
            <a:xfrm>
              <a:off x="8694986" y="7239000"/>
              <a:ext cx="1674168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59,54%</a:t>
              </a:r>
              <a:endParaRPr lang="en-US" sz="1725" dirty="0"/>
            </a:p>
          </p:txBody>
        </p:sp>
        <p:sp>
          <p:nvSpPr>
            <p:cNvPr id="111" name="Shape 109"/>
            <p:cNvSpPr/>
            <p:nvPr/>
          </p:nvSpPr>
          <p:spPr>
            <a:xfrm>
              <a:off x="10473928" y="7105650"/>
              <a:ext cx="1878806" cy="523875"/>
            </a:xfrm>
            <a:prstGeom prst="rect">
              <a:avLst/>
            </a:prstGeom>
            <a:solidFill>
              <a:srgbClr val="D7D991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2" name="Text 110"/>
            <p:cNvSpPr/>
            <p:nvPr/>
          </p:nvSpPr>
          <p:spPr>
            <a:xfrm>
              <a:off x="10578703" y="7239000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57,84%</a:t>
              </a:r>
              <a:endParaRPr lang="en-US" sz="1725" dirty="0"/>
            </a:p>
          </p:txBody>
        </p:sp>
        <p:sp>
          <p:nvSpPr>
            <p:cNvPr id="113" name="Shape 111"/>
            <p:cNvSpPr/>
            <p:nvPr/>
          </p:nvSpPr>
          <p:spPr>
            <a:xfrm>
              <a:off x="12352734" y="7105650"/>
              <a:ext cx="1878806" cy="523875"/>
            </a:xfrm>
            <a:prstGeom prst="rect">
              <a:avLst/>
            </a:prstGeom>
            <a:solidFill>
              <a:srgbClr val="C6D38F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4" name="Text 112"/>
            <p:cNvSpPr/>
            <p:nvPr/>
          </p:nvSpPr>
          <p:spPr>
            <a:xfrm>
              <a:off x="12457509" y="7239000"/>
              <a:ext cx="166925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59,57%</a:t>
              </a:r>
              <a:endParaRPr lang="en-US" sz="1725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14231541" y="7105650"/>
              <a:ext cx="3061543" cy="523875"/>
            </a:xfrm>
            <a:prstGeom prst="rect">
              <a:avLst/>
            </a:prstGeom>
            <a:solidFill>
              <a:srgbClr val="DBDB92"/>
            </a:solidFill>
            <a:ln w="9525">
              <a:solidFill>
                <a:srgbClr val="E4E7E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6" name="Text 114"/>
            <p:cNvSpPr/>
            <p:nvPr/>
          </p:nvSpPr>
          <p:spPr>
            <a:xfrm>
              <a:off x="14328492" y="7239000"/>
              <a:ext cx="286764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725" b="1" dirty="0">
                  <a:solidFill>
                    <a:srgbClr val="1619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57,40%</a:t>
              </a:r>
              <a:endParaRPr lang="en-US" sz="1725" dirty="0"/>
            </a:p>
          </p:txBody>
        </p:sp>
        <p:sp>
          <p:nvSpPr>
            <p:cNvPr id="117" name="Text 115"/>
            <p:cNvSpPr/>
            <p:nvPr/>
          </p:nvSpPr>
          <p:spPr>
            <a:xfrm>
              <a:off x="990600" y="7843838"/>
              <a:ext cx="16796004" cy="3333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650" b="1" dirty="0">
                  <a:solidFill>
                    <a:srgbClr val="5B647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F2. </a:t>
              </a:r>
              <a:r>
                <a:rPr lang="en-US" sz="1650" dirty="0">
                  <a:solidFill>
                    <a:srgbClr val="5B647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Wie F1, aber Recall zählt mehr. Gut, wenn Übersehen schlimmer ist als ein Fehlalarm. Rot = niedrig, Grün = hoch; bester Wert hervorgehoben.</a:t>
              </a:r>
              <a:endParaRPr lang="en-US" sz="1650" dirty="0"/>
            </a:p>
          </p:txBody>
        </p:sp>
      </p:grpSp>
      <p:sp>
        <p:nvSpPr>
          <p:cNvPr id="121" name="Textfeld 120">
            <a:extLst>
              <a:ext uri="{FF2B5EF4-FFF2-40B4-BE49-F238E27FC236}">
                <a16:creationId xmlns:a16="http://schemas.microsoft.com/office/drawing/2014/main" id="{1ED5C3D7-6E58-2BB7-F976-CE4C045DEF0E}"/>
              </a:ext>
            </a:extLst>
          </p:cNvPr>
          <p:cNvSpPr txBox="1"/>
          <p:nvPr/>
        </p:nvSpPr>
        <p:spPr>
          <a:xfrm>
            <a:off x="990600" y="7356663"/>
            <a:ext cx="17297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Bestwert 71,4% bei ZS+AD mit 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ZS+CoT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für 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Hate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 relevanteste Maß, weil Recall stärker zählt </a:t>
            </a:r>
            <a:b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Wertet die scheinbar starke ZS Variante korrekt ab, da deren hohe Precision die schwache Erkennung verdeckt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>
            <a:extLst>
              <a:ext uri="{FF2B5EF4-FFF2-40B4-BE49-F238E27FC236}">
                <a16:creationId xmlns:a16="http://schemas.microsoft.com/office/drawing/2014/main" id="{799EF6E0-DCC5-BB0B-3502-70501A40DB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6778159-F138-2D57-5504-AFF8F4F99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839" y="2429167"/>
            <a:ext cx="9910598" cy="638145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C7890EDF-E1DD-BB54-0933-EC910718314E}"/>
              </a:ext>
            </a:extLst>
          </p:cNvPr>
          <p:cNvSpPr/>
          <p:nvPr/>
        </p:nvSpPr>
        <p:spPr>
          <a:xfrm>
            <a:off x="990599" y="1476375"/>
            <a:ext cx="630593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X Ethnie Recall</a:t>
            </a:r>
            <a:endParaRPr lang="en-US" sz="45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93D1B89-7335-A383-347E-8FDDEF69BB96}"/>
              </a:ext>
            </a:extLst>
          </p:cNvPr>
          <p:cNvSpPr/>
          <p:nvPr/>
        </p:nvSpPr>
        <p:spPr>
          <a:xfrm>
            <a:off x="990600" y="990600"/>
            <a:ext cx="73882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</a:t>
            </a:r>
            <a:endParaRPr lang="en-US" sz="18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CD7AD43-A987-C63A-91A4-685EC8D32B43}"/>
              </a:ext>
            </a:extLst>
          </p:cNvPr>
          <p:cNvSpPr txBox="1"/>
          <p:nvPr/>
        </p:nvSpPr>
        <p:spPr>
          <a:xfrm>
            <a:off x="2765061" y="9292809"/>
            <a:ext cx="127578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b="1" i="0" dirty="0">
                <a:solidFill>
                  <a:srgbClr val="121212"/>
                </a:solidFill>
                <a:effectLst/>
                <a:latin typeface="Anthropic Sans"/>
              </a:rPr>
              <a:t>Phase 1 entscheidet: Beschreibungsqualität (Ethnie Recall) korreliert mit F1 zu </a:t>
            </a:r>
            <a:r>
              <a:rPr lang="de-DE" sz="2400" b="1" i="0" dirty="0" err="1">
                <a:solidFill>
                  <a:srgbClr val="121212"/>
                </a:solidFill>
                <a:effectLst/>
                <a:latin typeface="Anthropic Sans"/>
              </a:rPr>
              <a:t>r</a:t>
            </a:r>
            <a:r>
              <a:rPr lang="de-DE" sz="2400" b="1" i="0" dirty="0">
                <a:solidFill>
                  <a:srgbClr val="121212"/>
                </a:solidFill>
                <a:effectLst/>
                <a:latin typeface="Anthropic Sans"/>
              </a:rPr>
              <a:t> gleich 0,97</a:t>
            </a:r>
            <a:endParaRPr lang="de-DE" sz="2400" b="1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EEB2706-9C32-F123-E549-7D06DD35F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99" y="6642974"/>
            <a:ext cx="11430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11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59E816C-8641-06F2-F79B-1AF4A10E8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746" y="2161394"/>
            <a:ext cx="11100287" cy="657728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FD898D2-AE9D-50E5-E961-1313E7DF6B84}"/>
              </a:ext>
            </a:extLst>
          </p:cNvPr>
          <p:cNvSpPr/>
          <p:nvPr/>
        </p:nvSpPr>
        <p:spPr>
          <a:xfrm>
            <a:off x="990599" y="1476375"/>
            <a:ext cx="630593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16191D"/>
                </a:solidFill>
                <a:latin typeface="Arial" pitchFamily="34" charset="0"/>
                <a:cs typeface="Arial" pitchFamily="34" charset="-120"/>
              </a:rPr>
              <a:t>ZS x PE x RAG</a:t>
            </a:r>
            <a:endParaRPr lang="en-US" sz="45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998FF0F-FB00-818B-ACC4-50142ABD196C}"/>
              </a:ext>
            </a:extLst>
          </p:cNvPr>
          <p:cNvSpPr/>
          <p:nvPr/>
        </p:nvSpPr>
        <p:spPr>
          <a:xfrm>
            <a:off x="990600" y="990600"/>
            <a:ext cx="73882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</a:t>
            </a:r>
            <a:endParaRPr lang="en-US" sz="18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70BDC33-683C-4958-BA94-B5815AED1B4A}"/>
              </a:ext>
            </a:extLst>
          </p:cNvPr>
          <p:cNvSpPr txBox="1"/>
          <p:nvPr/>
        </p:nvSpPr>
        <p:spPr>
          <a:xfrm>
            <a:off x="299803" y="8810625"/>
            <a:ext cx="187227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Engineering nützt am meisten: bestes Setup ZS+AD mit 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ZS+CoT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plus 20 pp F1, plus 38 pp Recall 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Zero Shot</a:t>
            </a:r>
            <a:b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 allein bringt moderat: plus 9 bis 16 pp F1, plus 18 bis 34 pp Recall </a:t>
            </a:r>
            <a:r>
              <a:rPr lang="de-DE" altLang="de-DE" sz="2400" b="1" dirty="0" err="1">
                <a:latin typeface="Arial" panose="020B0604020202020204" pitchFamily="34" charset="0"/>
              </a:rPr>
              <a:t>vs</a:t>
            </a:r>
            <a:r>
              <a:rPr lang="de-DE" altLang="de-DE" sz="2400" b="1" dirty="0">
                <a:latin typeface="Arial" panose="020B0604020202020204" pitchFamily="34" charset="0"/>
              </a:rPr>
              <a:t> Zero Shot</a:t>
            </a:r>
            <a:endParaRPr lang="de-DE" sz="2400" b="1" dirty="0"/>
          </a:p>
        </p:txBody>
      </p:sp>
    </p:spTree>
    <p:extLst>
      <p:ext uri="{BB962C8B-B14F-4D97-AF65-F5344CB8AC3E}">
        <p14:creationId xmlns:p14="http://schemas.microsoft.com/office/powerpoint/2010/main" val="2767089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BA88847B-585B-EA1B-2ED2-F58A79C1ABCC}"/>
              </a:ext>
            </a:extLst>
          </p:cNvPr>
          <p:cNvSpPr txBox="1"/>
          <p:nvPr/>
        </p:nvSpPr>
        <p:spPr>
          <a:xfrm>
            <a:off x="990598" y="2959833"/>
            <a:ext cx="1628969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Fine Tuning wurde ausgeschlossen, weil es im konkreten Setup nicht funktionierte, das ist kein generelles Urteil über Fine Tuning möglich</a:t>
            </a:r>
            <a:br>
              <a:rPr lang="de-DE" sz="2400" b="1" dirty="0"/>
            </a:br>
            <a:endParaRPr lang="de-DE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RAG und dessen Kombination beruhen wenigen Läufen daher sind die konkreten Aussagen schwierig validierbar</a:t>
            </a:r>
            <a:br>
              <a:rPr lang="de-DE" sz="2400" b="1" dirty="0"/>
            </a:br>
            <a:endParaRPr lang="de-DE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AUROC nur eingeschränkt valide: die Confidence ist sehr grob und vor allem bei SLMs nicht nachvollzieh- und validierbar</a:t>
            </a:r>
            <a:br>
              <a:rPr lang="de-DE" sz="2400" b="1" dirty="0"/>
            </a:br>
            <a:endParaRPr lang="de-DE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Alle Modelle laufen auf Apple M2 8GB RAM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B3E3279-4568-DAD4-87B7-CEFB1DC376BF}"/>
              </a:ext>
            </a:extLst>
          </p:cNvPr>
          <p:cNvSpPr/>
          <p:nvPr/>
        </p:nvSpPr>
        <p:spPr>
          <a:xfrm>
            <a:off x="990599" y="1476375"/>
            <a:ext cx="630593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 err="1">
                <a:solidFill>
                  <a:srgbClr val="16191D"/>
                </a:solidFill>
                <a:latin typeface="Arial" pitchFamily="34" charset="0"/>
                <a:cs typeface="Arial" pitchFamily="34" charset="-120"/>
              </a:rPr>
              <a:t>Limitationen</a:t>
            </a:r>
            <a:endParaRPr lang="en-US" sz="45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5A91F0F-5312-B566-868D-27CAE3DE5916}"/>
              </a:ext>
            </a:extLst>
          </p:cNvPr>
          <p:cNvSpPr/>
          <p:nvPr/>
        </p:nvSpPr>
        <p:spPr>
          <a:xfrm>
            <a:off x="990600" y="990600"/>
            <a:ext cx="73882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 err="1">
                <a:solidFill>
                  <a:srgbClr val="2F5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904042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660271"/>
            <a:ext cx="167960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74646"/>
            <a:ext cx="16796004" cy="1057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-132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Fazit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90600" y="3127246"/>
            <a:ext cx="16442961" cy="2016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de-DE" altLang="de-DE" sz="2400" dirty="0">
                <a:latin typeface="Arial" panose="020B0604020202020204" pitchFamily="34" charset="0"/>
              </a:rPr>
            </a:br>
            <a:br>
              <a:rPr lang="de-DE" altLang="de-DE" sz="2400" dirty="0">
                <a:latin typeface="Arial" panose="020B0604020202020204" pitchFamily="34" charset="0"/>
              </a:rPr>
            </a:br>
            <a:endParaRPr lang="de-DE" altLang="de-DE" sz="2400" dirty="0"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FEBFE2-2DCC-BE51-D648-43D1185DF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16" y="53916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58C9390-90C6-827F-AB5D-0A3721B92583}"/>
              </a:ext>
            </a:extLst>
          </p:cNvPr>
          <p:cNvSpPr txBox="1"/>
          <p:nvPr/>
        </p:nvSpPr>
        <p:spPr>
          <a:xfrm>
            <a:off x="1095531" y="3136538"/>
            <a:ext cx="1719246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de-DE" altLang="de-DE" sz="2400" dirty="0">
                <a:latin typeface="Arial" panose="020B0604020202020204" pitchFamily="34" charset="0"/>
              </a:rPr>
              <a:t>Die Erkennungsleistung hängt primär von einer aussagekräftigen Bildbeschreibung ab</a:t>
            </a:r>
            <a:br>
              <a:rPr lang="de-DE" altLang="de-DE" sz="2400" dirty="0">
                <a:latin typeface="Arial" panose="020B0604020202020204" pitchFamily="34" charset="0"/>
              </a:rPr>
            </a:br>
            <a:endParaRPr lang="de-DE" altLang="de-DE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de-DE" altLang="de-DE" sz="2400" dirty="0">
                <a:latin typeface="Arial" panose="020B0604020202020204" pitchFamily="34" charset="0"/>
              </a:rPr>
              <a:t>Ein Attribute Driven Prompt Zusatz in Phase 1 erhöht </a:t>
            </a:r>
            <a:r>
              <a:rPr lang="de-DE" altLang="de-DE" sz="2800" b="1" dirty="0">
                <a:latin typeface="Arial" panose="020B0604020202020204" pitchFamily="34" charset="0"/>
              </a:rPr>
              <a:t>25 pp Ethnie-Recall </a:t>
            </a:r>
            <a:r>
              <a:rPr lang="de-DE" altLang="de-DE" sz="2400" dirty="0">
                <a:latin typeface="Arial" panose="020B0604020202020204" pitchFamily="34" charset="0"/>
              </a:rPr>
              <a:t>und </a:t>
            </a:r>
            <a:r>
              <a:rPr lang="de-DE" altLang="de-DE" sz="2800" b="1" dirty="0">
                <a:latin typeface="Arial" panose="020B0604020202020204" pitchFamily="34" charset="0"/>
              </a:rPr>
              <a:t>11 pp Entity Recall </a:t>
            </a:r>
            <a:r>
              <a:rPr lang="de-DE" altLang="de-DE" sz="2400" dirty="0" err="1">
                <a:latin typeface="Arial" panose="020B0604020202020204" pitchFamily="34" charset="0"/>
              </a:rPr>
              <a:t>vs</a:t>
            </a:r>
            <a:r>
              <a:rPr lang="de-DE" altLang="de-DE" sz="2400" dirty="0">
                <a:latin typeface="Arial" panose="020B0604020202020204" pitchFamily="34" charset="0"/>
              </a:rPr>
              <a:t> Zero Shot</a:t>
            </a:r>
            <a:b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Kombination von RAG und PE bringt </a:t>
            </a:r>
            <a:r>
              <a:rPr kumimoji="0" lang="de-DE" altLang="de-DE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wenig Mehrwert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nur plus </a:t>
            </a:r>
            <a:r>
              <a:rPr kumimoji="0" lang="de-DE" altLang="de-DE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pp F1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3090</Words>
  <Application>Microsoft Macintosh PowerPoint</Application>
  <PresentationFormat>Benutzerdefiniert</PresentationFormat>
  <Paragraphs>688</Paragraphs>
  <Slides>33</Slides>
  <Notes>29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38" baseType="lpstr">
      <vt:lpstr>Anthropic Sans</vt:lpstr>
      <vt:lpstr>Arial</vt:lpstr>
      <vt:lpstr>Courier New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Leopold Xaver Wittmann</cp:lastModifiedBy>
  <cp:revision>3</cp:revision>
  <dcterms:created xsi:type="dcterms:W3CDTF">2026-06-09T21:50:54Z</dcterms:created>
  <dcterms:modified xsi:type="dcterms:W3CDTF">2026-06-10T00:17:28Z</dcterms:modified>
</cp:coreProperties>
</file>